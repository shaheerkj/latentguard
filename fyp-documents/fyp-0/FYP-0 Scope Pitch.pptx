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7" r:id="rId8"/>
    <p:sldId id="268" r:id="rId9"/>
    <p:sldId id="261" r:id="rId10"/>
    <p:sldId id="262" r:id="rId11"/>
    <p:sldId id="263" r:id="rId12"/>
  </p:sldIdLst>
  <p:sldSz cx="14630400" cy="8229600"/>
  <p:notesSz cx="8229600" cy="14630400"/>
  <p:embeddedFontLst>
    <p:embeddedFont>
      <p:font typeface="Instrument Sans Medium" panose="020B0604020202020204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9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310D-9B6E-5D02-C8B6-DB40DD8B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37235-7424-106D-130E-0C5C6F140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0126C-1C70-F908-2CF0-229A58802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84821-686D-B552-DE26-84D0AAC92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41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2A4A-F399-76A6-D3BA-F4801D9A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FD02F-198E-CA4A-B8FD-60887CA38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20869-37E8-6EA8-8C12-4430E519D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7BB0-F212-3548-6B7F-D2B78FFEC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32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FABE-E215-E9FB-7773-4E7D6E53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9326B-C7E5-AB78-36CD-C39ECCF22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2C11E-CE35-7830-4D8D-0BCC6D2B6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75437-A613-AFC2-129C-2432DEC5D7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47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51987"/>
            <a:ext cx="7917073" cy="1117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200" dirty="0" err="1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LatentGuard</a:t>
            </a:r>
            <a:r>
              <a:rPr lang="en-US" sz="3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</a:t>
            </a:r>
            <a:r>
              <a:rPr lang="en-US" sz="3200" dirty="0">
                <a:solidFill>
                  <a:schemeClr val="bg1"/>
                </a:solidFill>
                <a:latin typeface="Instrument Sans Medium" panose="020B0604020202020204" charset="0"/>
              </a:rPr>
              <a:t>Adaptive Dual Layer WAF for Anomaly and Threat Detection</a:t>
            </a:r>
            <a:endParaRPr lang="en-US" sz="2000" dirty="0">
              <a:solidFill>
                <a:schemeClr val="bg1"/>
              </a:solidFill>
              <a:latin typeface="Instrument Sans Medium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7BF63B-FE26-DCC5-5BC1-5AB5313EF83A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FB4BE-25FF-AA69-2113-F9E1DB5FC295}"/>
              </a:ext>
            </a:extLst>
          </p:cNvPr>
          <p:cNvSpPr txBox="1"/>
          <p:nvPr/>
        </p:nvSpPr>
        <p:spPr>
          <a:xfrm>
            <a:off x="6797882" y="6058539"/>
            <a:ext cx="46799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                          Students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Syed Shaheer Khalid (SP23-BCT-048)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Javaria Maqbool (SP23-BCT-023)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5D208-2920-0EF0-FA6D-6C91DD527F47}"/>
              </a:ext>
            </a:extLst>
          </p:cNvPr>
          <p:cNvSpPr txBox="1"/>
          <p:nvPr/>
        </p:nvSpPr>
        <p:spPr>
          <a:xfrm>
            <a:off x="6195969" y="4355432"/>
            <a:ext cx="5883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Safely detect and mitigate both known &amp; unknown attacks on Web Applications using unsupervised machine learning techniques in a layered architecture.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2B34-9D9E-2D3D-5F0B-0F90C070E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D6C8DA-32B6-8722-1942-53C0CEA6F005}"/>
              </a:ext>
            </a:extLst>
          </p:cNvPr>
          <p:cNvSpPr/>
          <p:nvPr/>
        </p:nvSpPr>
        <p:spPr>
          <a:xfrm>
            <a:off x="793790" y="637699"/>
            <a:ext cx="7772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51B5B0-CBEA-A099-4AE8-7BDF93C24753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to Secure Web Applications From Vulnerabilities in 2024">
            <a:extLst>
              <a:ext uri="{FF2B5EF4-FFF2-40B4-BE49-F238E27FC236}">
                <a16:creationId xmlns:a16="http://schemas.microsoft.com/office/drawing/2014/main" id="{BA555E27-4247-124C-608E-5FAB01209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049" y="1631760"/>
            <a:ext cx="6987530" cy="475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987250-FBF2-496A-EE76-F46C34C0CAA2}"/>
              </a:ext>
            </a:extLst>
          </p:cNvPr>
          <p:cNvSpPr txBox="1"/>
          <p:nvPr/>
        </p:nvSpPr>
        <p:spPr>
          <a:xfrm>
            <a:off x="601579" y="1822784"/>
            <a:ext cx="518561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Modern web applications account for a large share of global internet traffic (60 - 62%) and are continuously exposed to sophisticated attacks such as SQL injection, XSS, command injection, and zero-day exploits.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Traditional signature-based &amp; AI detection  rely on known attack patterns and hence, fail against unknown or obfuscated attacks.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As web applications grow more dynamic and attack techniques evolve rapidly, there is a critical need for an intelligent and adaptive WAF that can detect zero-day attacks.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6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58132" y="38990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Evolving Threat Landscape: Gaps in Existing Solutions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409729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155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7C8541-DDC0-84F6-73E7-ACE15237A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524437"/>
              </p:ext>
            </p:extLst>
          </p:nvPr>
        </p:nvGraphicFramePr>
        <p:xfrm>
          <a:off x="2524224" y="1811020"/>
          <a:ext cx="8792680" cy="6126480"/>
        </p:xfrm>
        <a:graphic>
          <a:graphicData uri="http://schemas.openxmlformats.org/drawingml/2006/table">
            <a:tbl>
              <a:tblPr firstRow="1">
                <a:tableStyleId>{EB9631B5-78F2-41C9-869B-9F39066F8104}</a:tableStyleId>
              </a:tblPr>
              <a:tblGrid>
                <a:gridCol w="2577165">
                  <a:extLst>
                    <a:ext uri="{9D8B030D-6E8A-4147-A177-3AD203B41FA5}">
                      <a16:colId xmlns:a16="http://schemas.microsoft.com/office/drawing/2014/main" val="3053476909"/>
                    </a:ext>
                  </a:extLst>
                </a:gridCol>
                <a:gridCol w="3007477">
                  <a:extLst>
                    <a:ext uri="{9D8B030D-6E8A-4147-A177-3AD203B41FA5}">
                      <a16:colId xmlns:a16="http://schemas.microsoft.com/office/drawing/2014/main" val="353889539"/>
                    </a:ext>
                  </a:extLst>
                </a:gridCol>
                <a:gridCol w="3208038">
                  <a:extLst>
                    <a:ext uri="{9D8B030D-6E8A-4147-A177-3AD203B41FA5}">
                      <a16:colId xmlns:a16="http://schemas.microsoft.com/office/drawing/2014/main" val="999474908"/>
                    </a:ext>
                  </a:extLst>
                </a:gridCol>
              </a:tblGrid>
              <a:tr h="607545">
                <a:tc>
                  <a:txBody>
                    <a:bodyPr/>
                    <a:lstStyle/>
                    <a:p>
                      <a:r>
                        <a:rPr lang="en-US" dirty="0"/>
                        <a:t>Types / Names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Strengths 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Weaknesses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82258"/>
                  </a:ext>
                </a:extLst>
              </a:tr>
              <a:tr h="1398204">
                <a:tc>
                  <a:txBody>
                    <a:bodyPr/>
                    <a:lstStyle/>
                    <a:p>
                      <a:r>
                        <a:rPr lang="en-US" dirty="0"/>
                        <a:t>Cloud-based</a:t>
                      </a:r>
                    </a:p>
                    <a:p>
                      <a:r>
                        <a:rPr lang="en-US" dirty="0"/>
                        <a:t>(Azure, AWS, GCP, Cloudflare)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Managed Service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Enriched Threat Intelligence.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Great detection with models trained on Supervised learning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Expensive, especially for countries like Pakistan.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Single point of failure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Cannot detect unknown attacks.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511424"/>
                  </a:ext>
                </a:extLst>
              </a:tr>
              <a:tr h="1398204">
                <a:tc>
                  <a:txBody>
                    <a:bodyPr/>
                    <a:lstStyle/>
                    <a:p>
                      <a:r>
                        <a:rPr lang="en-US" dirty="0"/>
                        <a:t>On-Prem – Paid </a:t>
                      </a:r>
                    </a:p>
                    <a:p>
                      <a:r>
                        <a:rPr lang="en-US" dirty="0"/>
                        <a:t>(F5 Big-IP Advanced WAF, Barracuda, Fortinet </a:t>
                      </a:r>
                      <a:r>
                        <a:rPr lang="en-US" dirty="0" err="1"/>
                        <a:t>Fortiweb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High security efficacy (Behavioral analytics, ML, Deep inspection)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Flexible deployment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Costly, higher price point and steep learning curve for config.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Requires experienced operators to configure.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Cannot detect unseen attacks.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81311"/>
                  </a:ext>
                </a:extLst>
              </a:tr>
              <a:tr h="1071253">
                <a:tc>
                  <a:txBody>
                    <a:bodyPr/>
                    <a:lstStyle/>
                    <a:p>
                      <a:r>
                        <a:rPr lang="en-US" dirty="0"/>
                        <a:t>On-Prem – Open-Source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ModSecurity</a:t>
                      </a:r>
                      <a:r>
                        <a:rPr lang="en-US" dirty="0"/>
                        <a:t>, NAXSI)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Lightweight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Free &amp; Customizable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Requires significant manual rule customization to reduce false positives.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Lacks ML, Bot mitigation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dirty="0"/>
                        <a:t>Relies on static rule-based detection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0482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86DCA5D-2064-B3B8-A2A2-5A9D8FEA14B6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7699"/>
            <a:ext cx="7772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Objectives for a Smarter WAF</a:t>
            </a:r>
            <a:endParaRPr lang="en-US" sz="3900" dirty="0"/>
          </a:p>
        </p:txBody>
      </p:sp>
      <p:sp>
        <p:nvSpPr>
          <p:cNvPr id="15" name="Shape 11"/>
          <p:cNvSpPr/>
          <p:nvPr/>
        </p:nvSpPr>
        <p:spPr>
          <a:xfrm>
            <a:off x="8049126" y="2303827"/>
            <a:ext cx="6136105" cy="4710584"/>
          </a:xfrm>
          <a:prstGeom prst="roundRect">
            <a:avLst>
              <a:gd name="adj" fmla="val 3604"/>
            </a:avLst>
          </a:prstGeom>
          <a:solidFill>
            <a:srgbClr val="1F1F1F"/>
          </a:solidFill>
          <a:ln/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Implement a real-time hybrid decision engine that allows fast rule-based checks first.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Design an AI-driven mechanism that extracts attack patterns from anomalies and clusters, then uses LLMs to automatically generate executable </a:t>
            </a:r>
            <a:r>
              <a:rPr lang="en-US" sz="2400" dirty="0" err="1">
                <a:solidFill>
                  <a:schemeClr val="bg1"/>
                </a:solidFill>
              </a:rPr>
              <a:t>ModSecurity</a:t>
            </a:r>
            <a:r>
              <a:rPr lang="en-US" sz="2400" dirty="0">
                <a:solidFill>
                  <a:schemeClr val="bg1"/>
                </a:solidFill>
              </a:rPr>
              <a:t> compatible WAF rules for emerging threats.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438248-C111-2039-F701-7316B71FF8F2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FEFCA4-3506-06BB-F799-2430D604FA44}"/>
              </a:ext>
            </a:extLst>
          </p:cNvPr>
          <p:cNvSpPr txBox="1"/>
          <p:nvPr/>
        </p:nvSpPr>
        <p:spPr>
          <a:xfrm>
            <a:off x="697538" y="2323232"/>
            <a:ext cx="68219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Develop an unsupervised deep autoencoder trained solely on benign HTTP traffic to detect anomalies via high reconstruction errors and establish an effective threshold for normal vs. anomalous requests.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 HDBSCAN clustering on the autoencoder’s latent representations to group similar anomalies, filter noise, and distinguish benign-unusual traffic from genuine malicious attacks.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521613"/>
            <a:ext cx="13113068" cy="1185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Solving a problem: Why an Unsupervised AI-Assisted WAF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35805" y="1706999"/>
            <a:ext cx="13135929" cy="1012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solidFill>
                  <a:schemeClr val="bg1"/>
                </a:solidFill>
              </a:rPr>
              <a:t>The core complex problem being solved by </a:t>
            </a:r>
            <a:r>
              <a:rPr lang="en-US" sz="2000" dirty="0" err="1">
                <a:solidFill>
                  <a:schemeClr val="bg1"/>
                </a:solidFill>
              </a:rPr>
              <a:t>LatentGuard</a:t>
            </a:r>
            <a:r>
              <a:rPr lang="en-US" sz="2000" dirty="0">
                <a:solidFill>
                  <a:schemeClr val="bg1"/>
                </a:solidFill>
              </a:rPr>
              <a:t> is real-time detection and mitigation of zero-day web attacks in high-volume, dynamic web traffic environments, where traditional rule-based Web Application Firewalls (WAFs) fail due to evolving threats, high false positive rates, and inability to handle unknown attack patterns.</a:t>
            </a:r>
            <a:endParaRPr lang="en-US" sz="200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666" y="3209806"/>
            <a:ext cx="6461641" cy="1745337"/>
          </a:xfrm>
          <a:prstGeom prst="roundRect">
            <a:avLst>
              <a:gd name="adj" fmla="val 628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5806" y="3209806"/>
            <a:ext cx="91440" cy="1745337"/>
          </a:xfrm>
          <a:prstGeom prst="roundRect">
            <a:avLst>
              <a:gd name="adj" fmla="val 3111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9773" y="3422333"/>
            <a:ext cx="326338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Anomaly Detection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39773" y="3832503"/>
            <a:ext cx="5968008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performs real-time analysis of streaming HTTP/HTTPS requests, a computationally intensive task requiring efficient algorithms and architecture.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9974" y="3209806"/>
            <a:ext cx="6461760" cy="1745337"/>
          </a:xfrm>
          <a:prstGeom prst="roundRect">
            <a:avLst>
              <a:gd name="adj" fmla="val 628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87114" y="3209806"/>
            <a:ext cx="91440" cy="1745337"/>
          </a:xfrm>
          <a:prstGeom prst="roundRect">
            <a:avLst>
              <a:gd name="adj" fmla="val 3111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91080" y="3422333"/>
            <a:ext cx="3522940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Hybrid AI/Rule-Based Approach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91080" y="3832503"/>
            <a:ext cx="5968127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Combining fast, deterministic rule-based checks with a Comprehensive AI component for unseen attack cases provides a novel and robust detection mechanism.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666" y="5144810"/>
            <a:ext cx="6461641" cy="1745337"/>
          </a:xfrm>
          <a:prstGeom prst="roundRect">
            <a:avLst>
              <a:gd name="adj" fmla="val 628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5806" y="5144810"/>
            <a:ext cx="91440" cy="1745337"/>
          </a:xfrm>
          <a:prstGeom prst="roundRect">
            <a:avLst>
              <a:gd name="adj" fmla="val 3111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9773" y="5357336"/>
            <a:ext cx="4444603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Scalability and Deployment Agnosticism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39773" y="5767507"/>
            <a:ext cx="5968008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design prioritizes scalability to handle high traffic loads and offers deployment flexibility without code changes, demonstrating advanced system design principles.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9974" y="5144810"/>
            <a:ext cx="6461760" cy="1745337"/>
          </a:xfrm>
          <a:prstGeom prst="roundRect">
            <a:avLst>
              <a:gd name="adj" fmla="val 6287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7114" y="5144810"/>
            <a:ext cx="91440" cy="1745337"/>
          </a:xfrm>
          <a:prstGeom prst="roundRect">
            <a:avLst>
              <a:gd name="adj" fmla="val 31118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91080" y="5357336"/>
            <a:ext cx="3417213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Explainable AI in Cybersecurity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691080" y="5767507"/>
            <a:ext cx="5968127" cy="910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Integrating explainability into the AI decision process is a cutting-edge challenge in ML, ensuring transparency and trust in automated security decisions.</a:t>
            </a:r>
            <a:endParaRPr 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832EE4-3CB5-72FB-4F3F-4165034816F2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6574" y="595690"/>
            <a:ext cx="7120652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Methodology: A Step-by-Step Approach</a:t>
            </a:r>
            <a:endParaRPr lang="en-US" sz="295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52280D-9367-AC47-2E96-3C2F83AA4581}"/>
              </a:ext>
            </a:extLst>
          </p:cNvPr>
          <p:cNvSpPr txBox="1"/>
          <p:nvPr/>
        </p:nvSpPr>
        <p:spPr>
          <a:xfrm>
            <a:off x="2477502" y="1197193"/>
            <a:ext cx="91313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Pre-Filtering AI-generated + OWASP CRS rules + threat intel Immediate block/challenge for known threats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Feature Engineering Extract behavioral (method, length, headers) &amp; content features (tokens, n-grams, char ratios) Normalize → high-dim vector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Anomaly Detection Deep autoencoder trained only on benign traffic High reconstruction error → flag as anomalous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HDBSCAN Clustering Cluster latent representations of anomalies Dense = benign-unusual | Noise/outlier = attack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Final Decision Malicious only if autoencoder + HDBSCAN both agree Full logging (error, cluster, features) for explainability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Self-Learning Loop Mine confirmed attacks → extract patterns → LLM generates new rules Human review → deploy → system evolves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05F044-E793-A3B2-43BF-A9C0F509F85B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19D2F-E92A-011D-C84D-19565C88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395E78-145A-DEA5-3729-C7CB413406CF}"/>
              </a:ext>
            </a:extLst>
          </p:cNvPr>
          <p:cNvSpPr/>
          <p:nvPr/>
        </p:nvSpPr>
        <p:spPr>
          <a:xfrm>
            <a:off x="3386574" y="595690"/>
            <a:ext cx="7120652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Methodology: A Step-by-Step Approach</a:t>
            </a:r>
            <a:endParaRPr lang="en-US" sz="29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0F7623-6EAB-44A9-0061-ED6C7318E77A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7224C-EC8B-C594-C4B0-2FFBE770171B}"/>
              </a:ext>
            </a:extLst>
          </p:cNvPr>
          <p:cNvSpPr txBox="1"/>
          <p:nvPr/>
        </p:nvSpPr>
        <p:spPr>
          <a:xfrm>
            <a:off x="890337" y="1907271"/>
            <a:ext cx="44998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Datasets such as CSIC 2010, </a:t>
            </a:r>
            <a:r>
              <a:rPr lang="en-US" dirty="0" err="1">
                <a:solidFill>
                  <a:schemeClr val="bg1"/>
                </a:solidFill>
              </a:rPr>
              <a:t>HTTPParams</a:t>
            </a:r>
            <a:r>
              <a:rPr lang="en-US" dirty="0">
                <a:solidFill>
                  <a:schemeClr val="bg1"/>
                </a:solidFill>
              </a:rPr>
              <a:t>, ECML/PKDP, XSS will be used for training.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OWASP CRS core rule sets will establish the baseline for first level filtering.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system adapts continuously to traffic and the feedback provided by our Layered Architecture.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287F3-9127-D549-9A0C-5778A33DF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090" y="1149722"/>
            <a:ext cx="5560330" cy="659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4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5B5A-8A93-1D05-005C-82195F8E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512CB7-0E95-3206-66AB-0A3504BE55BD}"/>
              </a:ext>
            </a:extLst>
          </p:cNvPr>
          <p:cNvSpPr/>
          <p:nvPr/>
        </p:nvSpPr>
        <p:spPr>
          <a:xfrm>
            <a:off x="3386574" y="595690"/>
            <a:ext cx="7120652" cy="473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Methodology: A Step-by-Step Approach</a:t>
            </a:r>
            <a:endParaRPr lang="en-US" sz="29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C99CC1-2089-54FE-6297-8DF821CA9116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C931F-6A53-97FF-B4E5-79B93BB6A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535" y="1948644"/>
            <a:ext cx="4738160" cy="464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9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518" y="612696"/>
            <a:ext cx="9413081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Leveraging Cutting-Edge Tools &amp; Technologies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092518" y="1506981"/>
            <a:ext cx="12445365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successful implementation of our AI-assisted WAF relies on a strategic selection of robust and scalable tools and technologies.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18" y="1963936"/>
            <a:ext cx="516493" cy="5164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2518" y="2695575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Golang – net/http or Gin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92518" y="3067883"/>
            <a:ext cx="6115050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WAF core logic http logic. Very fast, ideal for high-throughput request processing. Gin is a great Framework for building the lightweight WAF reverse proxy. Best for strong support for web ecosystem.</a:t>
            </a:r>
            <a:endParaRPr lang="en-US" sz="1350" dirty="0"/>
          </a:p>
          <a:p>
            <a:pPr marL="0" indent="0" algn="l">
              <a:lnSpc>
                <a:spcPts val="2150"/>
              </a:lnSpc>
              <a:buNone/>
            </a:pP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2713" y="1963936"/>
            <a:ext cx="516493" cy="5164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2713" y="2695575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– </a:t>
            </a:r>
            <a:r>
              <a:rPr lang="en-US" sz="1650" dirty="0" err="1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PyTorch</a:t>
            </a: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/ HDBSCAN 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22713" y="3067883"/>
            <a:ext cx="6115169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implementing Deep Fully connected encoders and HDBSCAN for clustering.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518" y="4012466"/>
            <a:ext cx="516493" cy="5164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2518" y="4694634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650" dirty="0">
                <a:solidFill>
                  <a:schemeClr val="bg1"/>
                </a:solidFill>
                <a:latin typeface="Instrument Sans Medium" panose="020B0604020202020204" charset="0"/>
              </a:rPr>
              <a:t>Large Language Model: Meta-Llama-3.1-8B-Instruct</a:t>
            </a:r>
          </a:p>
          <a:p>
            <a:pPr marL="0" indent="0" algn="l">
              <a:lnSpc>
                <a:spcPts val="2100"/>
              </a:lnSpc>
              <a:buNone/>
            </a:pPr>
            <a:endParaRPr lang="en-US" sz="1650" dirty="0">
              <a:solidFill>
                <a:schemeClr val="bg1"/>
              </a:solidFill>
              <a:latin typeface="Instrument Sans Medium" panose="020B060402020202020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92518" y="5066943"/>
            <a:ext cx="6115050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as the Model that converts mined attack patterns into </a:t>
            </a:r>
            <a:r>
              <a:rPr lang="en-US" sz="135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ModSecurity</a:t>
            </a: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-compatible WAF rules. Follows instruction clearly, and has a structured output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2713" y="3962995"/>
            <a:ext cx="516493" cy="5164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2713" y="4694634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Docker/Kubernetes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22713" y="5066943"/>
            <a:ext cx="6115169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Containerization and orchestration for deployment flexibility and scalability across various environments (on-premises, cloud, hybrid).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2518" y="5962055"/>
            <a:ext cx="516493" cy="5164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2518" y="6693694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Elasticsearch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092518" y="7066002"/>
            <a:ext cx="6115050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log storage and analysis for asynchronous event logging and real-time monitoring of WAF activities.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22713" y="5962055"/>
            <a:ext cx="516493" cy="51649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2713" y="6693694"/>
            <a:ext cx="2152055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Grafana/Kibana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422713" y="7066002"/>
            <a:ext cx="6115169" cy="55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visualization dashboards to provide insights into WAF performance, blocked attacks, and decision rationales.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2BDC7F-35E1-55F9-66B9-1C8917CB95AE}"/>
              </a:ext>
            </a:extLst>
          </p:cNvPr>
          <p:cNvSpPr/>
          <p:nvPr/>
        </p:nvSpPr>
        <p:spPr>
          <a:xfrm>
            <a:off x="12865100" y="77597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0583" y="411480"/>
            <a:ext cx="7553682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Outcomes: A Secure and Insightful Future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2760583" y="1057156"/>
            <a:ext cx="9109115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aims to deliver a tangible and impactful solution, significantly contributing to the field of web security and providing a strong foundation for future research.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60583" y="1727716"/>
            <a:ext cx="1890117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76411" y="1727716"/>
            <a:ext cx="1927741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Relevance and Impact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24ECA-9EA4-52DC-A704-515E9DC783C2}"/>
              </a:ext>
            </a:extLst>
          </p:cNvPr>
          <p:cNvSpPr txBox="1"/>
          <p:nvPr/>
        </p:nvSpPr>
        <p:spPr>
          <a:xfrm>
            <a:off x="2305565" y="1987748"/>
            <a:ext cx="42672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Working WAF Prototype:</a:t>
            </a:r>
            <a:r>
              <a:rPr lang="en-US" sz="1600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functional reverse proxy capable of intercepting, analyzing, and mitigating web attacks.</a:t>
            </a:r>
          </a:p>
          <a:p>
            <a:endParaRPr lang="en-US" sz="1600" dirty="0">
              <a:solidFill>
                <a:srgbClr val="BFBFB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 Detection Module:</a:t>
            </a:r>
            <a:r>
              <a:rPr lang="en-US" sz="1600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trained and optimized machine learning model for detecting both known and unknown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 Framework:</a:t>
            </a:r>
            <a:r>
              <a:rPr lang="en-US" sz="1600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Containerized WAF for easy deployment in diverse environments (on-premise, cloud, hybrid).</a:t>
            </a:r>
          </a:p>
          <a:p>
            <a:endParaRPr lang="en-US" sz="1600" dirty="0">
              <a:solidFill>
                <a:srgbClr val="BFBFB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Centralized Logging &amp; Dashboard:</a:t>
            </a:r>
            <a:r>
              <a:rPr lang="en-US" sz="1600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system for comprehensive event logging and a user-friendly dashboard for real-time visualization and policy management.</a:t>
            </a:r>
          </a:p>
          <a:p>
            <a:endParaRPr lang="en-US" sz="1600" dirty="0">
              <a:solidFill>
                <a:srgbClr val="BFBFB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Documentation:</a:t>
            </a:r>
            <a:r>
              <a:rPr lang="en-US" sz="1600" dirty="0">
                <a:solidFill>
                  <a:srgbClr val="BFBFB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Detailed technical documentation covering architecture, implementation, deployment, and usage.</a:t>
            </a: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8CBB0F-A422-3182-F374-24DF4A0931EF}"/>
              </a:ext>
            </a:extLst>
          </p:cNvPr>
          <p:cNvSpPr txBox="1"/>
          <p:nvPr/>
        </p:nvSpPr>
        <p:spPr>
          <a:xfrm>
            <a:off x="7476411" y="1987748"/>
            <a:ext cx="440078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Security Posture: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a proactive defense against evolving web threats, reducing the attack surface for web applications.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Operational Overhead: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Automates detection and decision-making, minimizing the need for constant manual intervention.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 Flexibility: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Caters to a broad range of organizational needs, from small businesses to large enterprises with complex infrastructures.</a:t>
            </a:r>
          </a:p>
          <a:p>
            <a:endParaRPr lang="en-US" sz="16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Explainable AI in Practice: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Demonstrates how AI can be effectively and transparently applied in critical security domains.</a:t>
            </a:r>
          </a:p>
          <a:p>
            <a:endParaRPr lang="en-US" sz="1600" dirty="0">
              <a:solidFill>
                <a:srgbClr val="BFBFBF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Educational Contribution: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Serves as a practical example of applying advanced computer science concepts to real-world cybersecurity challenges.</a:t>
            </a:r>
            <a:endParaRPr 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874FE4-C628-9F52-A25E-A9C63E944263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3196" y="277773"/>
            <a:ext cx="40680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Takeaways &amp; Future Directions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4643" y="909161"/>
            <a:ext cx="7106722" cy="666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AI-assisted WAF project demonstrates a practical and innovative approach to enhancing web application security. It provides a robust, deployment-agnostic solution that intelligently combines rule-based filtering with machine learning for adaptive threat detection.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63196" y="795576"/>
            <a:ext cx="15240" cy="550545"/>
          </a:xfrm>
          <a:prstGeom prst="rect">
            <a:avLst/>
          </a:prstGeom>
          <a:solidFill>
            <a:srgbClr val="F5F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63196" y="1891167"/>
            <a:ext cx="1515547" cy="189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87759" y="2374210"/>
            <a:ext cx="3528655" cy="48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Context-Aware Policies: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 more sophisticated policy engines that adapt security rules based on application context, user behavior, and threat intelligence feeds.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87761" y="4016426"/>
            <a:ext cx="3528655" cy="48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Response Actions: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Explore integration with other security tools for automated incident response, such as IP blocking at the network perimeter or dynamic patching.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87761" y="5802123"/>
            <a:ext cx="3528655" cy="48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Optimization: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Further optimize the AI component for even lower latency and higher throughput, potentially exploring hardware acceleration.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89547" y="2373635"/>
            <a:ext cx="3675539" cy="66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Multi-Cloud Integration: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Enhance deployment capabilities to support specific features and APIs of various cloud providers (e.g., Azure, GCP).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89547" y="3766037"/>
            <a:ext cx="3528655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6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Open-Source Contribution:</a:t>
            </a: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Consider open-sourcing components of the WAF to foster community contributions and accelerate development.</a:t>
            </a:r>
            <a:endParaRPr 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22C89F-2210-DC1F-E476-344DF4BD8125}"/>
              </a:ext>
            </a:extLst>
          </p:cNvPr>
          <p:cNvSpPr/>
          <p:nvPr/>
        </p:nvSpPr>
        <p:spPr>
          <a:xfrm>
            <a:off x="12865100" y="7747000"/>
            <a:ext cx="1638300" cy="3810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3012</TotalTime>
  <Words>1295</Words>
  <Application>Microsoft Office PowerPoint</Application>
  <PresentationFormat>Custom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Instrument Sans Medium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(SP23-BCT-048) SYED SHAHEER KHALID</cp:lastModifiedBy>
  <cp:revision>109</cp:revision>
  <dcterms:created xsi:type="dcterms:W3CDTF">2026-01-11T14:31:29Z</dcterms:created>
  <dcterms:modified xsi:type="dcterms:W3CDTF">2026-02-06T15:26:40Z</dcterms:modified>
</cp:coreProperties>
</file>