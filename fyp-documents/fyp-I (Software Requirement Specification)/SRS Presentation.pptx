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76" r:id="rId1"/>
  </p:sldMasterIdLst>
  <p:notesMasterIdLst>
    <p:notesMasterId r:id="rId33"/>
  </p:notesMasterIdLst>
  <p:sldIdLst>
    <p:sldId id="256" r:id="rId2"/>
    <p:sldId id="289" r:id="rId3"/>
    <p:sldId id="257" r:id="rId4"/>
    <p:sldId id="258" r:id="rId5"/>
    <p:sldId id="259" r:id="rId6"/>
    <p:sldId id="291" r:id="rId7"/>
    <p:sldId id="260" r:id="rId8"/>
    <p:sldId id="263" r:id="rId9"/>
    <p:sldId id="261" r:id="rId10"/>
    <p:sldId id="262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80" r:id="rId26"/>
    <p:sldId id="279" r:id="rId27"/>
    <p:sldId id="282" r:id="rId28"/>
    <p:sldId id="283" r:id="rId29"/>
    <p:sldId id="284" r:id="rId30"/>
    <p:sldId id="292" r:id="rId31"/>
    <p:sldId id="290" r:id="rId32"/>
  </p:sldIdLst>
  <p:sldSz cx="14630400" cy="8229600"/>
  <p:notesSz cx="8229600" cy="14630400"/>
  <p:embeddedFontLst>
    <p:embeddedFont>
      <p:font typeface="Lora" pitchFamily="2" charset="0"/>
      <p:regular r:id="rId34"/>
      <p:bold r:id="rId35"/>
      <p:italic r:id="rId36"/>
      <p:boldItalic r:id="rId37"/>
    </p:embeddedFont>
    <p:embeddedFont>
      <p:font typeface="Manrope" panose="020B0604020202020204" charset="0"/>
      <p:regular r:id="rId38"/>
    </p:embeddedFont>
    <p:embeddedFont>
      <p:font typeface="Prata" panose="020B0604020202020204" charset="0"/>
      <p:regular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boto Medium" panose="02000000000000000000" pitchFamily="2" charset="0"/>
      <p:regular r:id="rId44"/>
      <p:italic r:id="rId45"/>
    </p:embeddedFont>
    <p:embeddedFont>
      <p:font typeface="Source Sans 3" panose="020B0604020202020204" charset="0"/>
      <p:regular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85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92FD-77BB-BB2D-6D77-C40E643E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99040-DFC8-C33D-143D-9459F37C7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54BA0-53E9-5E20-2590-6424B576A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97F8-2BF0-CD97-B58F-667893723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12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79" y="2357120"/>
            <a:ext cx="8637271" cy="2905757"/>
          </a:xfrm>
        </p:spPr>
        <p:txBody>
          <a:bodyPr anchor="b">
            <a:normAutofit/>
          </a:bodyPr>
          <a:lstStyle>
            <a:lvl1pPr algn="r">
              <a:defRPr sz="576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4879" y="5262879"/>
            <a:ext cx="8637271" cy="1686560"/>
          </a:xfrm>
        </p:spPr>
        <p:txBody>
          <a:bodyPr anchor="t">
            <a:normAutofit/>
          </a:bodyPr>
          <a:lstStyle>
            <a:lvl1pPr marL="0" indent="0" algn="r">
              <a:buNone/>
              <a:defRPr sz="2160" cap="all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19070" y="7044691"/>
            <a:ext cx="1920240" cy="4533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4879" y="7044691"/>
            <a:ext cx="5872750" cy="4533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730750" y="7044691"/>
            <a:ext cx="661400" cy="45339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41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1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3970297"/>
            <a:ext cx="12157712" cy="1762560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2857"/>
            <a:ext cx="12157714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cap="all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0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2" y="2570480"/>
            <a:ext cx="5994401" cy="43789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6274" y="2570481"/>
            <a:ext cx="5994398" cy="43789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8404" y="2661921"/>
            <a:ext cx="56508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2" y="3444241"/>
            <a:ext cx="5996308" cy="35051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4" y="2672081"/>
            <a:ext cx="566737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88180" y="3444241"/>
            <a:ext cx="5994401" cy="35051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03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8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2489200"/>
            <a:ext cx="4417062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841" y="731521"/>
            <a:ext cx="7402831" cy="621792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4135120"/>
            <a:ext cx="4417062" cy="219456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50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7397584" cy="164592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43504" y="1097280"/>
            <a:ext cx="3937169" cy="54864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566160"/>
            <a:ext cx="7397584" cy="219456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88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5679438"/>
            <a:ext cx="12157712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5921" y="1118535"/>
            <a:ext cx="10511792" cy="379797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6359524"/>
            <a:ext cx="12157712" cy="592454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749039"/>
          </a:xfrm>
        </p:spPr>
        <p:txBody>
          <a:bodyPr anchor="ctr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37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17450" y="4023360"/>
            <a:ext cx="11207021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959" y="5212080"/>
            <a:ext cx="12182840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1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3" y="3970297"/>
            <a:ext cx="12157710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1" y="5732857"/>
            <a:ext cx="12157711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11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0" y="4663440"/>
            <a:ext cx="12162523" cy="1066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0240"/>
            <a:ext cx="12162523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85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2918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1" y="4206240"/>
            <a:ext cx="12157714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69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63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0410" y="731520"/>
            <a:ext cx="2590262" cy="62179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731520"/>
            <a:ext cx="9398539" cy="621792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299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293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131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74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363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240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559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2177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888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30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2" y="2570481"/>
            <a:ext cx="12157710" cy="437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07592" y="7044691"/>
            <a:ext cx="192024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1" y="7044691"/>
            <a:ext cx="9393191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19273" y="7044691"/>
            <a:ext cx="66140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38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  <p:sldLayoutId id="2147483895" r:id="rId19"/>
    <p:sldLayoutId id="2147483896" r:id="rId20"/>
    <p:sldLayoutId id="2147483897" r:id="rId21"/>
    <p:sldLayoutId id="2147483898" r:id="rId22"/>
    <p:sldLayoutId id="2147483899" r:id="rId23"/>
    <p:sldLayoutId id="2147483900" r:id="rId24"/>
    <p:sldLayoutId id="2147483901" r:id="rId25"/>
    <p:sldLayoutId id="2147483902" r:id="rId26"/>
  </p:sldLayoutIdLst>
  <p:hf hdr="0" dt="0"/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2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6146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LatentGuard: Adaptive Dual-Layer Web Application Firewall for Anomaly and Threat Detection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214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Syed Shaheer Khalid (SP23-BCT-048) | Javaria Maqbool (SP23-BCT-023)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394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Supervisor: Dr. Farhana Jabeen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575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of Cyber Security, COMSATS University Islamabad | BS Cyber Security 2023–2027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26745-8E09-73FA-71ED-0FFCAE689DDC}"/>
              </a:ext>
            </a:extLst>
          </p:cNvPr>
          <p:cNvSpPr txBox="1"/>
          <p:nvPr/>
        </p:nvSpPr>
        <p:spPr>
          <a:xfrm>
            <a:off x="1175657" y="793820"/>
            <a:ext cx="917414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Contents:</a:t>
            </a:r>
          </a:p>
          <a:p>
            <a:br>
              <a:rPr lang="en-US" dirty="0"/>
            </a:br>
            <a:r>
              <a:rPr lang="en-US" sz="2400" dirty="0"/>
              <a:t>1. Problem Statements</a:t>
            </a:r>
          </a:p>
          <a:p>
            <a:r>
              <a:rPr lang="en-US" sz="2400" dirty="0"/>
              <a:t>2. Scope Evaluation</a:t>
            </a:r>
            <a:br>
              <a:rPr lang="en-US" sz="2400" dirty="0"/>
            </a:br>
            <a:r>
              <a:rPr lang="en-US" sz="2400" dirty="0"/>
              <a:t>3.Proposed Solution</a:t>
            </a:r>
            <a:br>
              <a:rPr lang="en-US" sz="2400" dirty="0"/>
            </a:br>
            <a:r>
              <a:rPr lang="en-US" sz="2400" dirty="0"/>
              <a:t>4. Key modules</a:t>
            </a:r>
          </a:p>
          <a:p>
            <a:r>
              <a:rPr lang="en-US" sz="2400" dirty="0"/>
              <a:t>5. Use Case Diagram</a:t>
            </a:r>
          </a:p>
          <a:p>
            <a:r>
              <a:rPr lang="en-US" sz="2400" dirty="0"/>
              <a:t>6. How we Gathered Requirements</a:t>
            </a:r>
          </a:p>
          <a:p>
            <a:r>
              <a:rPr lang="en-US" sz="2400" dirty="0"/>
              <a:t>	6.1  Mockups</a:t>
            </a:r>
          </a:p>
          <a:p>
            <a:r>
              <a:rPr lang="en-US" sz="2400" dirty="0"/>
              <a:t>	6.2. Events</a:t>
            </a:r>
          </a:p>
          <a:p>
            <a:r>
              <a:rPr lang="en-US" sz="2400" dirty="0"/>
              <a:t>		6.2.1 Required derived from Events</a:t>
            </a:r>
          </a:p>
          <a:p>
            <a:r>
              <a:rPr lang="en-US" sz="2400" dirty="0"/>
              <a:t>7. Non-functional Requirements</a:t>
            </a:r>
          </a:p>
          <a:p>
            <a:r>
              <a:rPr lang="en-US" sz="2400" dirty="0"/>
              <a:t>	</a:t>
            </a:r>
            <a:endParaRPr lang="en-US" sz="20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399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14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020" y="654963"/>
            <a:ext cx="7604760" cy="1374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1. Problem Statement — Why Are We Building This?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6020" y="2561987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Problem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736533" y="2738902"/>
            <a:ext cx="4408953" cy="43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endParaRPr lang="en-US" sz="170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WAFs cannot detect zero-day and polymorphic attacks – threats without pre-existing signatures.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false‑positive rates disrupt legitimate traffic and increase operational overhead.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automated mechanism to convert newly observed attack patterns into deployable rules.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teams require constant manual tuning—time intensive and error prone.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4268" y="2561987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Who Is Affected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334268" y="3118723"/>
            <a:ext cx="3534132" cy="299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administrators facing alert fatigue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application owners seeking uninterrupted availability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DevOps teams responsible for deployment stability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operating APIs in hostile threat environments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844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2. Industry Evaluation Feedback &amp; Revisions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82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Feedback Received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60652" y="3060143"/>
            <a:ext cx="3966205" cy="3979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Needed to incorporate/build up on open-source WAF (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Modsecurity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issue of acquiring good datasets for model training.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LLM-generated rules risk deploying malicious or incorrect rules without oversight — a validation gate is essential.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882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Changes Made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653121" y="3296691"/>
            <a:ext cx="3501509" cy="378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Revised system architecture to position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ModSecurity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rule engine, with AI as a complementary layer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Finalized training datasets: CSIC 2010, CIC-IDS2017, CSE-CIC-IDS2018,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HTTPParams</a:t>
            </a: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AI‑generated rules now require administrator approval before going live.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7727" y="467678"/>
            <a:ext cx="5983129" cy="497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 Proposed Solution — LatentGuard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727" y="1189434"/>
            <a:ext cx="10994946" cy="5031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1588" y="1863502"/>
            <a:ext cx="2432212" cy="304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Closed Loop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871588" y="2254007"/>
            <a:ext cx="2680837" cy="41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rule gen, human review, deploy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110129" y="3517406"/>
            <a:ext cx="2432212" cy="30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 Detection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77700" y="3907911"/>
            <a:ext cx="2464641" cy="41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Autoencoder scoring and HDBSCAN clustering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1588" y="4371382"/>
            <a:ext cx="2432212" cy="30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Rule-Based Filter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871588" y="4761887"/>
            <a:ext cx="2680837" cy="41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ModSecurity, OWASP CRS, AI rules, threat intel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17727" y="6347103"/>
            <a:ext cx="1099494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Effectiveness highlights: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17727" y="6689884"/>
            <a:ext cx="10994946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known AND unknown attacks through hybrid rule + anomaly strategy.</a:t>
            </a:r>
            <a:endParaRPr lang="en-US" sz="14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false positives via multi‑stage consensus (recon error + clustering + rules).</a:t>
            </a:r>
            <a:endParaRPr lang="en-US" sz="14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Self‑improves: observed patterns are synthesized into candidate rules and routed through HITL validation.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817727" y="7544872"/>
            <a:ext cx="1099494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FED8-B06F-3380-CB1E-3D020F90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AD9BA0-9F20-F41C-2617-4C99287FDD76}"/>
              </a:ext>
            </a:extLst>
          </p:cNvPr>
          <p:cNvSpPr/>
          <p:nvPr/>
        </p:nvSpPr>
        <p:spPr>
          <a:xfrm>
            <a:off x="1017430" y="550232"/>
            <a:ext cx="5983129" cy="497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 Updates w.r.t Evaluation — LatentGuard</a:t>
            </a:r>
            <a:endParaRPr lang="en-US" sz="3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02027DF-01D3-2EA4-F4BD-2D45A0EA2D65}"/>
              </a:ext>
            </a:extLst>
          </p:cNvPr>
          <p:cNvSpPr/>
          <p:nvPr/>
        </p:nvSpPr>
        <p:spPr>
          <a:xfrm>
            <a:off x="1817727" y="7544872"/>
            <a:ext cx="1099494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A3CAC6-AEFE-24D6-37EF-C64D41A5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097" y="174670"/>
            <a:ext cx="5281968" cy="80170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70AF2E-934F-77F8-51BF-4E7C71DAE94E}"/>
              </a:ext>
            </a:extLst>
          </p:cNvPr>
          <p:cNvSpPr txBox="1"/>
          <p:nvPr/>
        </p:nvSpPr>
        <p:spPr>
          <a:xfrm>
            <a:off x="1017430" y="2240924"/>
            <a:ext cx="53833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M3 upgraded: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ModSecurity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(OWASP CRS) now serves as primary rule-based engine, complemented by dual-layer AI</a:t>
            </a:r>
          </a:p>
          <a:p>
            <a:pPr marL="342900" indent="-342900">
              <a:buAutoNum type="arabicPeriod"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M1 technology decision: Nginx (battle-tested, scalable) vs. Go-based proxy (lower latency, customizable) – based on project requirements.</a:t>
            </a:r>
          </a:p>
          <a:p>
            <a:pPr marL="342900" indent="-342900">
              <a:buAutoNum type="arabicPeriod"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Assessing important datasets required in the implementation of this project.</a:t>
            </a:r>
          </a:p>
        </p:txBody>
      </p:sp>
    </p:spTree>
    <p:extLst>
      <p:ext uri="{BB962C8B-B14F-4D97-AF65-F5344CB8AC3E}">
        <p14:creationId xmlns:p14="http://schemas.microsoft.com/office/powerpoint/2010/main" val="329071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1007150"/>
            <a:ext cx="5247918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 Key Modules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2051685"/>
            <a:ext cx="683776" cy="68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1160" y="2051685"/>
            <a:ext cx="218158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Reverse Proxy Interception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661160" y="2824163"/>
            <a:ext cx="2181582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Go‑based traffic capture with TLS termination and early request extraction.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511" y="2051685"/>
            <a:ext cx="683776" cy="68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12055" y="2051685"/>
            <a:ext cx="2181701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Rule‑Based Filtering Engine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012055" y="2824163"/>
            <a:ext cx="2181701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ModSecurity + OWASP CRS augmented with AI‑synthesized candidate rules.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525" y="2051685"/>
            <a:ext cx="683776" cy="6837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3069" y="2051685"/>
            <a:ext cx="218170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Autoencoder Anomaly Detection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8363069" y="3152180"/>
            <a:ext cx="2181701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Reconstruction error scoring trained on benign traffic to flag anomalies.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539" y="2051685"/>
            <a:ext cx="683776" cy="6837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14083" y="2051685"/>
            <a:ext cx="218170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HDBSCAN Clustering Validation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1714083" y="3152180"/>
            <a:ext cx="2181701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Latent‑space clustering to validate anomalies and suppress spurious alerts.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16" y="5156954"/>
            <a:ext cx="683776" cy="6837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61160" y="5156954"/>
            <a:ext cx="218158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Multi‑Signal Consensus Engine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1661160" y="5929432"/>
            <a:ext cx="2181582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Weighted voting across rules, recon error, and clustering for final decision.</a:t>
            </a:r>
            <a:endParaRPr lang="en-US" sz="16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5511" y="5156954"/>
            <a:ext cx="683776" cy="6837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12055" y="5156954"/>
            <a:ext cx="2181701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 Rule Generation + HITL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5012055" y="5929432"/>
            <a:ext cx="2181701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mining → LLM synthesizes candidate rules → administrator approval loop.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94757" y="6101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5. Use Case Diagram</a:t>
            </a:r>
          </a:p>
        </p:txBody>
      </p:sp>
      <p:sp>
        <p:nvSpPr>
          <p:cNvPr id="9" name="Text 1"/>
          <p:cNvSpPr/>
          <p:nvPr/>
        </p:nvSpPr>
        <p:spPr>
          <a:xfrm>
            <a:off x="344156" y="413532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3F1007-7BAA-220A-391E-2ED99ECA2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781" y="14638"/>
            <a:ext cx="6514619" cy="82149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0D64C-1E25-11AF-1415-D434C131E66C}"/>
              </a:ext>
            </a:extLst>
          </p:cNvPr>
          <p:cNvSpPr txBox="1"/>
          <p:nvPr/>
        </p:nvSpPr>
        <p:spPr>
          <a:xfrm>
            <a:off x="360176" y="1318893"/>
            <a:ext cx="75564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Actors: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🔵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 Client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initiates HTTP/S requests to the protected application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🔵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Security Admin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reviews AI-generated rules, monitors decisions &amp; explainability logs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🔵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Auditor / ML Engineer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monitors dashboard, fine-tunes anomaly detection model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🔵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Threat Intel Feed / LLM Service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external actors feeding intelligence into the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7FCD0-A883-EDD5-C2D1-907205B933A8}"/>
              </a:ext>
            </a:extLst>
          </p:cNvPr>
          <p:cNvSpPr txBox="1"/>
          <p:nvPr/>
        </p:nvSpPr>
        <p:spPr>
          <a:xfrm>
            <a:off x="344156" y="5243316"/>
            <a:ext cx="7373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Use Cases: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Traffic interception → normalization → dual-layer detection (autoencoder + HDBSCAN)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Consensus engine makes final allow/block decision with full 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Attack patterns mined → LLM generates rules → human approval before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6198"/>
            <a:ext cx="82134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 How We Gathered Requirements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7552" y="3189566"/>
            <a:ext cx="3047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Mockup‑Based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17552" y="3641646"/>
            <a:ext cx="393334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wireframes produced for each feature; functional requirements derived from screen elements and user flows.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317551" y="5264349"/>
            <a:ext cx="3933349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Justification: Directly ties UI expectations to system behavior and acceptance criteria.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93101" y="3241953"/>
            <a:ext cx="393334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Event Based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13682" y="3823097"/>
            <a:ext cx="39333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this we analyzed diff events and based on those events we gathered </a:t>
            </a:r>
            <a:b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885" y="529709"/>
            <a:ext cx="7145060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 How We Gathered Requirements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78239" y="5711845"/>
            <a:ext cx="13036629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Brief breakdown: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6885" y="6304478"/>
            <a:ext cx="13036629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Mockups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Map user actions (Login, Dashboard, Rule Review) to expected system responses.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Event‑Response Tables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Define triggers, system action, pre/post state, and error handling for key events (10 primary events).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19026E-0C41-A096-86A2-9BF45B9C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325" y="2160899"/>
            <a:ext cx="10526594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258" y="522803"/>
            <a:ext cx="7150775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6.1 Mockups &amp; Functional Requirements</a:t>
            </a:r>
            <a:endParaRPr lang="en-US" sz="3400" dirty="0"/>
          </a:p>
        </p:txBody>
      </p:sp>
      <p:sp>
        <p:nvSpPr>
          <p:cNvPr id="10" name="Text 0"/>
          <p:cNvSpPr/>
          <p:nvPr/>
        </p:nvSpPr>
        <p:spPr>
          <a:xfrm>
            <a:off x="1895197" y="1325202"/>
            <a:ext cx="5784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M1 – Login &amp; Authentication Page</a:t>
            </a:r>
            <a:endParaRPr lang="en-US" sz="2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97" y="1502367"/>
            <a:ext cx="4373880" cy="488442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784340" y="2187462"/>
            <a:ext cx="525553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Functional Requirements Derived from Mockup M1 –Login Page</a:t>
            </a:r>
            <a:endParaRPr lang="en-US" sz="1300" dirty="0"/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418F589-F67B-D068-7092-C92F9EA20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276202"/>
              </p:ext>
            </p:extLst>
          </p:nvPr>
        </p:nvGraphicFramePr>
        <p:xfrm>
          <a:off x="952193" y="2787649"/>
          <a:ext cx="7428133" cy="4579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3636">
                  <a:extLst>
                    <a:ext uri="{9D8B030D-6E8A-4147-A177-3AD203B41FA5}">
                      <a16:colId xmlns:a16="http://schemas.microsoft.com/office/drawing/2014/main" val="660174975"/>
                    </a:ext>
                  </a:extLst>
                </a:gridCol>
                <a:gridCol w="2835218">
                  <a:extLst>
                    <a:ext uri="{9D8B030D-6E8A-4147-A177-3AD203B41FA5}">
                      <a16:colId xmlns:a16="http://schemas.microsoft.com/office/drawing/2014/main" val="3844333459"/>
                    </a:ext>
                  </a:extLst>
                </a:gridCol>
                <a:gridCol w="2539279">
                  <a:extLst>
                    <a:ext uri="{9D8B030D-6E8A-4147-A177-3AD203B41FA5}">
                      <a16:colId xmlns:a16="http://schemas.microsoft.com/office/drawing/2014/main" val="1502824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2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Feature (derived from UI)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Functional Requirement (FR-ID: Statement)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Business Rule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51167006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User Sign-In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FR1.1: The system shall allow authenticated users to access the dashboard by providing valid email and password credentials.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Email must follow standard format. Password must be at least 8 characters with mixed case, numbers, and special characters.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878520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User Authentication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FR1.2: The system shall validate credentials against stored records in the authentication database.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Accounts shall be locked for 15 minutes after 5 consecutive failed login attempts.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9177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Password Recovery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FR1.3: The system shall allow users to initiate password recovery when requested.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Only registered users with verified email addresses can request password recovery.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36958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Remember Me Option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FR1.4: The system shall allow users to stay signed in on the same device by selecting "Remember Me".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Session shall remain active for 30 days or until user explicitly logs out.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472590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367" y="614964"/>
            <a:ext cx="4874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M2 – Dashboard Overview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6" y="1574723"/>
            <a:ext cx="7124349" cy="29688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6" y="4509614"/>
            <a:ext cx="7124349" cy="327124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35" y="4543545"/>
            <a:ext cx="7126823" cy="3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7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338030-BD33-8921-F244-0233822C6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49531"/>
              </p:ext>
            </p:extLst>
          </p:nvPr>
        </p:nvGraphicFramePr>
        <p:xfrm>
          <a:off x="1517302" y="1102987"/>
          <a:ext cx="11153670" cy="6899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5332">
                  <a:extLst>
                    <a:ext uri="{9D8B030D-6E8A-4147-A177-3AD203B41FA5}">
                      <a16:colId xmlns:a16="http://schemas.microsoft.com/office/drawing/2014/main" val="3180827141"/>
                    </a:ext>
                  </a:extLst>
                </a:gridCol>
                <a:gridCol w="3865933">
                  <a:extLst>
                    <a:ext uri="{9D8B030D-6E8A-4147-A177-3AD203B41FA5}">
                      <a16:colId xmlns:a16="http://schemas.microsoft.com/office/drawing/2014/main" val="4268775844"/>
                    </a:ext>
                  </a:extLst>
                </a:gridCol>
                <a:gridCol w="4562405">
                  <a:extLst>
                    <a:ext uri="{9D8B030D-6E8A-4147-A177-3AD203B41FA5}">
                      <a16:colId xmlns:a16="http://schemas.microsoft.com/office/drawing/2014/main" val="2564085254"/>
                    </a:ext>
                  </a:extLst>
                </a:gridCol>
              </a:tblGrid>
              <a:tr h="5295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Feature (derived from UI)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Functional Requirement (FR-ID: Statement)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Business Rule</a:t>
                      </a:r>
                      <a:endParaRPr lang="en-PK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extLst>
                  <a:ext uri="{0D108BD9-81ED-4DB2-BD59-A6C34878D82A}">
                    <a16:rowId xmlns:a16="http://schemas.microsoft.com/office/drawing/2014/main" val="3981545326"/>
                  </a:ext>
                </a:extLst>
              </a:tr>
              <a:tr h="9712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Navigation Menu</a:t>
                      </a:r>
                      <a:endParaRPr lang="en-PK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FR2.1: The system shall provide access to key sections (Alerts, Analytics, Settings, Reports, Profile) through a top navigation bar.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Menu items shall be displayed based on user role (Admin, Analyst, Viewer).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1987572726"/>
                  </a:ext>
                </a:extLst>
              </a:tr>
              <a:tr h="754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Personalized Welcome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FR2.2: The system shall display a personalized welcome message showing the authenticated user's name.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User name shall be retrieved from the authenticated session.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1411383694"/>
                  </a:ext>
                </a:extLst>
              </a:tr>
              <a:tr h="9712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Request Metrics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FR2.3: The system shall display total requests, blocked count, and allowed count with percentage change indicators.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Metrics shall update in real-time with data aggregated from the last 24 hours and compared to previous period.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2810204504"/>
                  </a:ext>
                </a:extLst>
              </a:tr>
              <a:tr h="750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Traffic Timeline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FR2.4: The system shall display a graphical timeline of traffic with anomaly score overlay.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Timeline shall refresh every 5 minutes with data from the logging database (M7).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3573360401"/>
                  </a:ext>
                </a:extLst>
              </a:tr>
              <a:tr h="9712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ML Model Status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FR2.5: The system shall display real-time status and performance metrics for M4 (Autoencoder) and M5 (HDBSCAN) models.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Model status shall indicate current load, accuracy, and any degradation alerts.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3184408157"/>
                  </a:ext>
                </a:extLst>
              </a:tr>
              <a:tr h="9712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Recent Events Table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FR2.6: The system shall display a list of recent security events including timestamp, source IP, decision, and anomaly score.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Events shall be sorted by most recent timestamp, showing maximum 10 rows per page.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2042145731"/>
                  </a:ext>
                </a:extLst>
              </a:tr>
              <a:tr h="750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View All Link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FR2.7: The system shall allow navigation to the complete logs view from the recent events section.</a:t>
                      </a:r>
                      <a:endParaRPr lang="en-P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77467" marT="48417" marB="4841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Clicking "View All" shall redirect to the Logs &amp; Audit page with current filter context.</a:t>
                      </a:r>
                      <a:endParaRPr lang="en-PK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67" marR="0" marT="48417" marB="48417" anchor="ctr"/>
                </a:tc>
                <a:extLst>
                  <a:ext uri="{0D108BD9-81ED-4DB2-BD59-A6C34878D82A}">
                    <a16:rowId xmlns:a16="http://schemas.microsoft.com/office/drawing/2014/main" val="3600018252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18517B21-E017-5AFD-D241-684B5DD38419}"/>
              </a:ext>
            </a:extLst>
          </p:cNvPr>
          <p:cNvSpPr/>
          <p:nvPr/>
        </p:nvSpPr>
        <p:spPr>
          <a:xfrm>
            <a:off x="4464367" y="614964"/>
            <a:ext cx="46790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M2 – Dashboard Overview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9210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FA735284-A6C7-849A-F128-55B99AFA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96" y="256233"/>
            <a:ext cx="4860925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893E0A7-1841-4EDA-520D-5D3BD750E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96" y="819796"/>
            <a:ext cx="4305300" cy="375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D5E09DE4-6A21-98B3-B52F-A935A4E7E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896" y="788046"/>
            <a:ext cx="4518025" cy="378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DCF47F1-C0AE-1EBB-07EE-A0475C98F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" r="18491"/>
          <a:stretch>
            <a:fillRect/>
          </a:stretch>
        </p:blipFill>
        <p:spPr bwMode="auto">
          <a:xfrm>
            <a:off x="331596" y="4541690"/>
            <a:ext cx="5526593" cy="362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">
            <a:extLst>
              <a:ext uri="{FF2B5EF4-FFF2-40B4-BE49-F238E27FC236}">
                <a16:creationId xmlns:a16="http://schemas.microsoft.com/office/drawing/2014/main" id="{A55B9542-B901-2A53-EAF3-5861B04C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56"/>
          <a:stretch>
            <a:fillRect/>
          </a:stretch>
        </p:blipFill>
        <p:spPr bwMode="auto">
          <a:xfrm>
            <a:off x="5814027" y="4498098"/>
            <a:ext cx="6256338" cy="362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E8C581DE-68AA-2180-5FF0-74C28269D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-200967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F1FE136-DE5A-E2D8-F8ED-E9217F7F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819796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B85ED19-A344-5E5B-53C9-0F64C6535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4575821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6806DB5-5FF3-5DE5-38B4-C23DDEF5F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9049396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FD7394F-D05E-EA3E-EE15-5C2D931BE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13134033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CFEDB04-881B-51F6-4371-A39A09968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96" y="16966258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Functional Requirements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7EC5C2FB-20E5-DBE2-2F14-95922425AAF2}"/>
              </a:ext>
            </a:extLst>
          </p:cNvPr>
          <p:cNvSpPr/>
          <p:nvPr/>
        </p:nvSpPr>
        <p:spPr>
          <a:xfrm>
            <a:off x="6175794" y="209638"/>
            <a:ext cx="6144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M3 – Anomaly Detection (M4 &amp; M5)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04525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144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M3 – Anomaly Detection (M4 &amp; M5)</a:t>
            </a:r>
            <a:endParaRPr lang="en-US" sz="2200" dirty="0"/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8AB82B24-2ED6-AE8C-35CA-0F80A5B23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14372"/>
              </p:ext>
            </p:extLst>
          </p:nvPr>
        </p:nvGraphicFramePr>
        <p:xfrm>
          <a:off x="2610814" y="1311326"/>
          <a:ext cx="9517545" cy="6300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2515">
                  <a:extLst>
                    <a:ext uri="{9D8B030D-6E8A-4147-A177-3AD203B41FA5}">
                      <a16:colId xmlns:a16="http://schemas.microsoft.com/office/drawing/2014/main" val="4273449746"/>
                    </a:ext>
                  </a:extLst>
                </a:gridCol>
                <a:gridCol w="3172515">
                  <a:extLst>
                    <a:ext uri="{9D8B030D-6E8A-4147-A177-3AD203B41FA5}">
                      <a16:colId xmlns:a16="http://schemas.microsoft.com/office/drawing/2014/main" val="2813548189"/>
                    </a:ext>
                  </a:extLst>
                </a:gridCol>
                <a:gridCol w="3172515">
                  <a:extLst>
                    <a:ext uri="{9D8B030D-6E8A-4147-A177-3AD203B41FA5}">
                      <a16:colId xmlns:a16="http://schemas.microsoft.com/office/drawing/2014/main" val="157248233"/>
                    </a:ext>
                  </a:extLst>
                </a:gridCol>
              </a:tblGrid>
              <a:tr h="4545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Feature (derived from UI)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Functional Requirement (FR-ID: Statement)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Business Rule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extLst>
                  <a:ext uri="{0D108BD9-81ED-4DB2-BD59-A6C34878D82A}">
                    <a16:rowId xmlns:a16="http://schemas.microsoft.com/office/drawing/2014/main" val="2100593623"/>
                  </a:ext>
                </a:extLst>
              </a:tr>
              <a:tr h="7896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Autoencoder Status Display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FR3.1: The system shall display current status, version, and performance metrics for the M4 Autoencoder model.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Status indicators shall show Active, Training, Degraded, or Offline states.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4068766189"/>
                  </a:ext>
                </a:extLst>
              </a:tr>
              <a:tr h="7896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Retrain Model Button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FR3.2: The system shall allow administrators to initiate retraining of the autoencoder on new benign traffic data.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Retraining shall only be performed during scheduled maintenance windows or when model degradation exceeds 5%.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809892405"/>
                  </a:ext>
                </a:extLst>
              </a:tr>
              <a:tr h="7896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Adjust Threshold Control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FR3.3: The system shall allow administrators to modify the anomaly detection threshold for the autoencoder.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Threshold range shall be 0.01 to 0.50 with default 0.15. Changes shall be logged for audit.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1946397220"/>
                  </a:ext>
                </a:extLst>
              </a:tr>
              <a:tr h="7896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HDBSCAN Configuration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FR3.4: The system shall display and allow modification of HDBSCAN clustering parameters (min cluster size, min samples).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Parameter changes shall trigger re-clustering of recent data.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4186317148"/>
                  </a:ext>
                </a:extLst>
              </a:tr>
              <a:tr h="9279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Cluster Visualization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FR3.5: The system shall provide a 2D visualization of clusters with color-coded points representing normal traffic, anomalies, outliers, and noise.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Visualization shall update when re-clustering is performed.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1758010910"/>
                  </a:ext>
                </a:extLst>
              </a:tr>
              <a:tr h="7746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Error Trend Graph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FR3.6: The system shall display a historical trend of autoencoder reconstruction error over the last 7 days.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85140" marT="53213" marB="532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Graph shall support drill-down to hourly granularity.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40" marR="0" marT="53213" marB="53213" anchor="ctr"/>
                </a:tc>
                <a:extLst>
                  <a:ext uri="{0D108BD9-81ED-4DB2-BD59-A6C34878D82A}">
                    <a16:rowId xmlns:a16="http://schemas.microsoft.com/office/drawing/2014/main" val="356725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053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2F5324E0-5EE4-F4B8-7824-86FD598D6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685" y="950341"/>
            <a:ext cx="7086733" cy="273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1D3EB89D-7EDA-3655-7BD3-9040AF77A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7" r="16020"/>
          <a:stretch>
            <a:fillRect/>
          </a:stretch>
        </p:blipFill>
        <p:spPr bwMode="auto">
          <a:xfrm>
            <a:off x="2559685" y="3564107"/>
            <a:ext cx="5471795" cy="255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">
            <a:extLst>
              <a:ext uri="{FF2B5EF4-FFF2-40B4-BE49-F238E27FC236}">
                <a16:creationId xmlns:a16="http://schemas.microsoft.com/office/drawing/2014/main" id="{1C95BB4D-D311-2C5F-5B0C-D5286A5E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686" y="5878286"/>
            <a:ext cx="7062626" cy="246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36CBE30-0354-8DE5-142D-96845FDC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480" y="3681042"/>
            <a:ext cx="1614938" cy="227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9103915-9E44-BC40-2AE7-21061004017D}"/>
              </a:ext>
            </a:extLst>
          </p:cNvPr>
          <p:cNvSpPr/>
          <p:nvPr/>
        </p:nvSpPr>
        <p:spPr>
          <a:xfrm>
            <a:off x="3402449" y="311825"/>
            <a:ext cx="52120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M4 – Consensus Engine (M6)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2359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191FD24-9989-139F-2ECF-4E097DBD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1988780"/>
            <a:ext cx="8038465" cy="4583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07F930-5CE3-0AAC-4279-FB0510FA9EE2}"/>
              </a:ext>
            </a:extLst>
          </p:cNvPr>
          <p:cNvSpPr txBox="1"/>
          <p:nvPr/>
        </p:nvSpPr>
        <p:spPr>
          <a:xfrm>
            <a:off x="2701607" y="940158"/>
            <a:ext cx="7315200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M4 – Consensus Engine (M6)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49466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747018"/>
            <a:ext cx="52120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M4 – Consensus Engine (M6)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02449" y="6672501"/>
            <a:ext cx="7825502" cy="3046571"/>
          </a:xfrm>
          <a:prstGeom prst="roundRect">
            <a:avLst>
              <a:gd name="adj" fmla="val 55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F5226908-52A3-6BC8-B4C7-C601755E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55" y="-1197253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EF211432-28BF-F9AB-E1F6-A573881C3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55" y="3755747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WE ZOOM IN </a:t>
            </a:r>
            <a:endParaRPr kumimoji="0" lang="en-PK" altLang="en-PK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510BFEE7-C080-3572-AD22-E0177DA0A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55" y="6140172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BB1EF797-0E93-2B79-39D0-3B88036E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55" y="10407372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8F0D722D-B5AD-AB32-42FF-A2C8A519E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55" y="12709247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6B36B5F-4148-45DD-5030-05A6DAA50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285153"/>
              </p:ext>
            </p:extLst>
          </p:nvPr>
        </p:nvGraphicFramePr>
        <p:xfrm>
          <a:off x="1756064" y="1718033"/>
          <a:ext cx="9291552" cy="54926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1864">
                  <a:extLst>
                    <a:ext uri="{9D8B030D-6E8A-4147-A177-3AD203B41FA5}">
                      <a16:colId xmlns:a16="http://schemas.microsoft.com/office/drawing/2014/main" val="3541798491"/>
                    </a:ext>
                  </a:extLst>
                </a:gridCol>
                <a:gridCol w="3641716">
                  <a:extLst>
                    <a:ext uri="{9D8B030D-6E8A-4147-A177-3AD203B41FA5}">
                      <a16:colId xmlns:a16="http://schemas.microsoft.com/office/drawing/2014/main" val="3916433720"/>
                    </a:ext>
                  </a:extLst>
                </a:gridCol>
                <a:gridCol w="3207972">
                  <a:extLst>
                    <a:ext uri="{9D8B030D-6E8A-4147-A177-3AD203B41FA5}">
                      <a16:colId xmlns:a16="http://schemas.microsoft.com/office/drawing/2014/main" val="1094588092"/>
                    </a:ext>
                  </a:extLst>
                </a:gridCol>
              </a:tblGrid>
              <a:tr h="4057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Feature (derived from UI)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Functional Requirement (FR-ID: Statement)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Business Rule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extLst>
                  <a:ext uri="{0D108BD9-81ED-4DB2-BD59-A6C34878D82A}">
                    <a16:rowId xmlns:a16="http://schemas.microsoft.com/office/drawing/2014/main" val="3918143357"/>
                  </a:ext>
                </a:extLst>
              </a:tr>
              <a:tr h="852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Consensus Mode Selection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FR4.1: The system shall support three consensus modes: Weighted Voting, Majority, and Strict (all models must agree).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Mode selection shall persist across system restarts and be logged for audit.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3078405554"/>
                  </a:ext>
                </a:extLst>
              </a:tr>
              <a:tr h="1000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Weight Configuration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FR4.2: The system shall allow administrators to assign weight percentages to each detection model (M4, M5, ModSecurity CRS).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Sum of all weights must equal 100%. Weight changes shall require confirmation.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925969160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Decision Threshold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FR4.3: The system shall allow configuration of the decision threshold for block/allow determination.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Threshold shall be between 0.00 and 1.00. Default threshold is 0.65.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449864885"/>
                  </a:ext>
                </a:extLst>
              </a:tr>
              <a:tr h="852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Decisions Table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FR4.4: The system shall display recent decisions with individual model scores and consensus result.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Table shall show last 50 decisions by default with pagination support.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733630346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Override Decision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FR4.5: The system shall allow administrators to manually override automated decisions.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Override shall be logged with administrator identity, reason, and timestamp.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737673800"/>
                  </a:ext>
                </a:extLst>
              </a:tr>
              <a:tr h="7033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Export Logs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FR4.6: The system shall allow exporting decision logs in CSV and JSON formats.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92419" marT="57762" marB="577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Export shall include all decision parameters and override history.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19" marR="0" marT="57762" marB="57762" anchor="ctr"/>
                </a:tc>
                <a:extLst>
                  <a:ext uri="{0D108BD9-81ED-4DB2-BD59-A6C34878D82A}">
                    <a16:rowId xmlns:a16="http://schemas.microsoft.com/office/drawing/2014/main" val="125030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337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8581" y="273368"/>
            <a:ext cx="78255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M5 – LLM Rule Generation &amp; Human Review (M8, M9, M10)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88" y="1750164"/>
            <a:ext cx="7825502" cy="50655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488" y="6736263"/>
            <a:ext cx="7825502" cy="70687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402449" y="16161306"/>
            <a:ext cx="7825502" cy="3537942"/>
          </a:xfrm>
          <a:prstGeom prst="roundRect">
            <a:avLst>
              <a:gd name="adj" fmla="val 4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2"/>
          <p:cNvSpPr/>
          <p:nvPr/>
        </p:nvSpPr>
        <p:spPr>
          <a:xfrm>
            <a:off x="3410069" y="16168926"/>
            <a:ext cx="7809428" cy="355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3"/>
          <p:cNvSpPr/>
          <p:nvPr/>
        </p:nvSpPr>
        <p:spPr>
          <a:xfrm>
            <a:off x="3524369" y="16210478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(derived from UI)</a:t>
            </a:r>
            <a:endParaRPr lang="en-US" sz="850" dirty="0"/>
          </a:p>
        </p:txBody>
      </p:sp>
      <p:sp>
        <p:nvSpPr>
          <p:cNvPr id="10" name="Text 4"/>
          <p:cNvSpPr/>
          <p:nvPr/>
        </p:nvSpPr>
        <p:spPr>
          <a:xfrm>
            <a:off x="6131004" y="16210478"/>
            <a:ext cx="23685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Functional Requirement (FR-ID: Statement)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8733830" y="16210478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Rule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3410069" y="16524208"/>
            <a:ext cx="7809428" cy="3552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7"/>
          <p:cNvSpPr/>
          <p:nvPr/>
        </p:nvSpPr>
        <p:spPr>
          <a:xfrm>
            <a:off x="3524369" y="16565761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Pattern Mining Status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6131004" y="16565761"/>
            <a:ext cx="23685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FR5.1: The system shall display current status of attack pattern mining process (M8).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8733830" y="16565761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 shall show Idle, Running, Completed, or Failed states.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3410069" y="16879491"/>
            <a:ext cx="7809428" cy="355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1"/>
          <p:cNvSpPr/>
          <p:nvPr/>
        </p:nvSpPr>
        <p:spPr>
          <a:xfrm>
            <a:off x="3524369" y="16921043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Patterns Display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131004" y="16921043"/>
            <a:ext cx="23685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FR5.2: The system shall list newly detected attack patterns with confidence scores.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8733830" y="16921043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Patterns with confidence below 70% shall be flagged for review only, not auto-processed.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410069" y="17234773"/>
            <a:ext cx="7809428" cy="491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3524369" y="17276326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Pattern Mining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131004" y="17276326"/>
            <a:ext cx="236851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FR5.3: The system shall allow manual initiation of attack pattern mining on recent blocked traffic.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8733830" y="17276326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Mining process shall analyze last 24 hours of blocked requests.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410069" y="17726144"/>
            <a:ext cx="7809428" cy="491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3524369" y="17767697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Rule Generation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131004" y="17767697"/>
            <a:ext cx="236851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FR5.4: The system shall generate ModSecurity-compatible rules from validated attack patterns using LLM.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733830" y="17767697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rules shall follow ModSecurity CRS syntax standards.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410069" y="18217515"/>
            <a:ext cx="7809428" cy="6274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3"/>
          <p:cNvSpPr/>
          <p:nvPr/>
        </p:nvSpPr>
        <p:spPr>
          <a:xfrm>
            <a:off x="3524369" y="18259068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 Preview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131004" y="18259068"/>
            <a:ext cx="236851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FR5.5: The system shall display generated rules with metadata including confidence score, expected false positive rate, and severity.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733830" y="18259068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Rules must be reviewed by human before deployment.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3410069" y="18844974"/>
            <a:ext cx="7809428" cy="491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3524369" y="18886527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Review Queue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131004" y="18886527"/>
            <a:ext cx="23685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FR5.6: The system shall maintain a queue of pending rules requiring human review.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8733830" y="18886527"/>
            <a:ext cx="237232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Rules remain pending until explicitly accepted, edited, or rejected by an administrator.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410069" y="19336345"/>
            <a:ext cx="7809428" cy="3552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1"/>
          <p:cNvSpPr/>
          <p:nvPr/>
        </p:nvSpPr>
        <p:spPr>
          <a:xfrm>
            <a:off x="3524369" y="19377898"/>
            <a:ext cx="237232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Operations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6131004" y="19377898"/>
            <a:ext cx="23685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FR5.7: The system shall allow bulk approval or rejection of multiple rules.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8733830" y="19377898"/>
            <a:ext cx="237232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operations shall require confirmation with audit logging.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36172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48" y="2529075"/>
            <a:ext cx="9642991" cy="43392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A11C3B-6815-3095-B366-979CE84886A1}"/>
              </a:ext>
            </a:extLst>
          </p:cNvPr>
          <p:cNvSpPr txBox="1"/>
          <p:nvPr/>
        </p:nvSpPr>
        <p:spPr>
          <a:xfrm>
            <a:off x="3139440" y="966301"/>
            <a:ext cx="73152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M5 – LLM Rule Generation &amp; Human Review (M8, M9, M10)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36420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009" y="2000190"/>
            <a:ext cx="7825502" cy="5478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A24535-704B-2E39-AE98-2F752A51EEEB}"/>
              </a:ext>
            </a:extLst>
          </p:cNvPr>
          <p:cNvSpPr txBox="1"/>
          <p:nvPr/>
        </p:nvSpPr>
        <p:spPr>
          <a:xfrm>
            <a:off x="3017520" y="750511"/>
            <a:ext cx="73152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M5 – LLM Rule Generation &amp; Human Review (M8, M9, M10)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1283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EBE424-E383-CCA1-ABAD-B699DB27B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098039"/>
              </p:ext>
            </p:extLst>
          </p:nvPr>
        </p:nvGraphicFramePr>
        <p:xfrm>
          <a:off x="2392681" y="1701678"/>
          <a:ext cx="9464039" cy="5831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6698">
                  <a:extLst>
                    <a:ext uri="{9D8B030D-6E8A-4147-A177-3AD203B41FA5}">
                      <a16:colId xmlns:a16="http://schemas.microsoft.com/office/drawing/2014/main" val="104228593"/>
                    </a:ext>
                  </a:extLst>
                </a:gridCol>
                <a:gridCol w="3493015">
                  <a:extLst>
                    <a:ext uri="{9D8B030D-6E8A-4147-A177-3AD203B41FA5}">
                      <a16:colId xmlns:a16="http://schemas.microsoft.com/office/drawing/2014/main" val="3963779726"/>
                    </a:ext>
                  </a:extLst>
                </a:gridCol>
                <a:gridCol w="3364326">
                  <a:extLst>
                    <a:ext uri="{9D8B030D-6E8A-4147-A177-3AD203B41FA5}">
                      <a16:colId xmlns:a16="http://schemas.microsoft.com/office/drawing/2014/main" val="3105371631"/>
                    </a:ext>
                  </a:extLst>
                </a:gridCol>
              </a:tblGrid>
              <a:tr h="3668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Feature (derived from UI)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Functional Requirement (FR-ID: Statement)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Business Rule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extLst>
                  <a:ext uri="{0D108BD9-81ED-4DB2-BD59-A6C34878D82A}">
                    <a16:rowId xmlns:a16="http://schemas.microsoft.com/office/drawing/2014/main" val="1848049708"/>
                  </a:ext>
                </a:extLst>
              </a:tr>
              <a:tr h="63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Pattern Mining Status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FR5.1: The system shall display current status of attack pattern mining process (M8).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Status shall show Idle, Running, Completed, or Failed states.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4293268754"/>
                  </a:ext>
                </a:extLst>
              </a:tr>
              <a:tr h="63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New Patterns Display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FR5.2: The system shall list newly detected attack patterns with confidence scores.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Patterns with confidence below 70% shall be flagged for review only, not auto-processed.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1663985292"/>
                  </a:ext>
                </a:extLst>
              </a:tr>
              <a:tr h="63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Run Pattern Mining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FR5.3: The system shall allow manual initiation of attack pattern mining on recent blocked traffic.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Mining process shall analyze last 24 hours of blocked requests.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3147551799"/>
                  </a:ext>
                </a:extLst>
              </a:tr>
              <a:tr h="7703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LLM Rule Generation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FR5.4: The system shall generate ModSecurity-compatible rules from validated attack patterns using LLM.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Generated rules shall follow ModSecurity CRS syntax standards.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3179629760"/>
                  </a:ext>
                </a:extLst>
              </a:tr>
              <a:tr h="904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Rule Preview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FR5.5: The system shall display generated rules with metadata including confidence score, expected false positive rate, and severity.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Rules must be reviewed by human before deployment.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171177965"/>
                  </a:ext>
                </a:extLst>
              </a:tr>
              <a:tr h="63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Human Review Queue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FR5.6: The system shall maintain a queue of pending rules requiring human review.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Rules remain pending until explicitly accepted, edited, or rejected by an administrator.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2805948630"/>
                  </a:ext>
                </a:extLst>
              </a:tr>
              <a:tr h="63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Bulk Operations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FR5.7: The system shall allow bulk approval or rejection of multiple rules.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83545" marT="52216" marB="52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Bulk operations shall require confirmation with audit logging.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545" marR="0" marT="52216" marB="52216" anchor="ctr"/>
                </a:tc>
                <a:extLst>
                  <a:ext uri="{0D108BD9-81ED-4DB2-BD59-A6C34878D82A}">
                    <a16:rowId xmlns:a16="http://schemas.microsoft.com/office/drawing/2014/main" val="30302205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E6FD18-5EF9-758E-D23B-B6978DDA4642}"/>
              </a:ext>
            </a:extLst>
          </p:cNvPr>
          <p:cNvSpPr txBox="1"/>
          <p:nvPr/>
        </p:nvSpPr>
        <p:spPr>
          <a:xfrm>
            <a:off x="3467100" y="743358"/>
            <a:ext cx="73152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M5 – LLM Rule Generation &amp; Human Review (M8, M9, M10)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9831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098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M6 – logging &amp; audit:</a:t>
            </a:r>
            <a:endParaRPr lang="en-US" sz="2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E6728F3-6C98-7636-0ACA-F441FF015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312" y="1220469"/>
            <a:ext cx="8843328" cy="629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23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21B9F1-2156-E645-C7B1-F764572AE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04738"/>
              </p:ext>
            </p:extLst>
          </p:nvPr>
        </p:nvGraphicFramePr>
        <p:xfrm>
          <a:off x="1356360" y="1695845"/>
          <a:ext cx="10165081" cy="5703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7075">
                  <a:extLst>
                    <a:ext uri="{9D8B030D-6E8A-4147-A177-3AD203B41FA5}">
                      <a16:colId xmlns:a16="http://schemas.microsoft.com/office/drawing/2014/main" val="3118409774"/>
                    </a:ext>
                  </a:extLst>
                </a:gridCol>
                <a:gridCol w="4758216">
                  <a:extLst>
                    <a:ext uri="{9D8B030D-6E8A-4147-A177-3AD203B41FA5}">
                      <a16:colId xmlns:a16="http://schemas.microsoft.com/office/drawing/2014/main" val="298861359"/>
                    </a:ext>
                  </a:extLst>
                </a:gridCol>
                <a:gridCol w="2949790">
                  <a:extLst>
                    <a:ext uri="{9D8B030D-6E8A-4147-A177-3AD203B41FA5}">
                      <a16:colId xmlns:a16="http://schemas.microsoft.com/office/drawing/2014/main" val="2575191648"/>
                    </a:ext>
                  </a:extLst>
                </a:gridCol>
              </a:tblGrid>
              <a:tr h="4894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Feature (derived from UI)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Functional Requirement (FR-ID: Statement)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Business Rule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extLst>
                  <a:ext uri="{0D108BD9-81ED-4DB2-BD59-A6C34878D82A}">
                    <a16:rowId xmlns:a16="http://schemas.microsoft.com/office/drawing/2014/main" val="1064840768"/>
                  </a:ext>
                </a:extLst>
              </a:tr>
              <a:tr h="1027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Date Range Filter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FR6.1: The system shall allow filtering logs by date range (preset and custom).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Log retention period </a:t>
                      </a:r>
                      <a:br>
                        <a:rPr lang="en-PK" sz="1400" kern="100">
                          <a:effectLst/>
                        </a:rPr>
                      </a:br>
                      <a:r>
                        <a:rPr lang="en-PK" sz="1400" kern="100">
                          <a:effectLst/>
                        </a:rPr>
                        <a:t>shall be 90 days for detailed logs, </a:t>
                      </a:r>
                      <a:br>
                        <a:rPr lang="en-PK" sz="1400" kern="100">
                          <a:effectLst/>
                        </a:rPr>
                      </a:br>
                      <a:r>
                        <a:rPr lang="en-PK" sz="1400" kern="100">
                          <a:effectLst/>
                        </a:rPr>
                        <a:t>365 days for</a:t>
                      </a:r>
                      <a:br>
                        <a:rPr lang="en-PK" sz="1400" kern="100">
                          <a:effectLst/>
                        </a:rPr>
                      </a:br>
                      <a:r>
                        <a:rPr lang="en-PK" sz="1400" kern="100">
                          <a:effectLst/>
                        </a:rPr>
                        <a:t>summarized metrics.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3064503201"/>
                  </a:ext>
                </a:extLst>
              </a:tr>
              <a:tr h="668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Decision Filter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FR6.2: The system shall allow filtering logs by decision type (Block, Allow, Review).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Filter options shall </a:t>
                      </a:r>
                      <a:br>
                        <a:rPr lang="en-PK" sz="1400" kern="100">
                          <a:effectLst/>
                        </a:rPr>
                      </a:br>
                      <a:r>
                        <a:rPr lang="en-PK" sz="1400" kern="100">
                          <a:effectLst/>
                        </a:rPr>
                        <a:t>include ALL, BLOCK, ALLOW, and REVIEW.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555975014"/>
                  </a:ext>
                </a:extLst>
              </a:tr>
              <a:tr h="668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Search Functionality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FR6.3: The system shall allow searching logs by IP address, URI, or request ID.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Search shall support </a:t>
                      </a:r>
                      <a:br>
                        <a:rPr lang="en-PK" sz="1400" kern="100">
                          <a:effectLst/>
                        </a:rPr>
                      </a:br>
                      <a:r>
                        <a:rPr lang="en-PK" sz="1400" kern="100">
                          <a:effectLst/>
                        </a:rPr>
                        <a:t>partial matching and wildcard characters.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2754744082"/>
                  </a:ext>
                </a:extLst>
              </a:tr>
              <a:tr h="8484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Expandable Row Details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FR6.4: The system shall allow expanding log entries to view full request details, anomaly scores, and triggered rules.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Expandable section shall show complete request/response details.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1403126508"/>
                  </a:ext>
                </a:extLst>
              </a:tr>
              <a:tr h="8484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Export Functionality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FR6.5: The system shall allow exporting filtered logs in CSV and JSON formats.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Exports shall be limited to 100,000 rows per request with async notification.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4077384997"/>
                  </a:ext>
                </a:extLst>
              </a:tr>
              <a:tr h="668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Pagination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FR6.6: The system shall support pagination with configurable rows per page (default 25).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111481" marT="69675" marB="696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Page navigation shall maintain current filter settings.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481" marR="0" marT="69675" marB="69675" anchor="ctr"/>
                </a:tc>
                <a:extLst>
                  <a:ext uri="{0D108BD9-81ED-4DB2-BD59-A6C34878D82A}">
                    <a16:rowId xmlns:a16="http://schemas.microsoft.com/office/drawing/2014/main" val="895253378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D9BDCF3B-8435-69A2-5EFA-680BEFDEFAD0}"/>
              </a:ext>
            </a:extLst>
          </p:cNvPr>
          <p:cNvSpPr/>
          <p:nvPr/>
        </p:nvSpPr>
        <p:spPr>
          <a:xfrm>
            <a:off x="4057769" y="829985"/>
            <a:ext cx="4098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M6 – logging &amp; audit: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6460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>
            <a:extLst>
              <a:ext uri="{FF2B5EF4-FFF2-40B4-BE49-F238E27FC236}">
                <a16:creationId xmlns:a16="http://schemas.microsoft.com/office/drawing/2014/main" id="{0CD8216C-C553-A571-2F6B-F4C529567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" y="1440656"/>
            <a:ext cx="7309634" cy="467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20BB5E8-BF4F-3CE2-BF23-64DC417B8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" y="6118536"/>
            <a:ext cx="7293610" cy="184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Picture 1">
            <a:extLst>
              <a:ext uri="{FF2B5EF4-FFF2-40B4-BE49-F238E27FC236}">
                <a16:creationId xmlns:a16="http://schemas.microsoft.com/office/drawing/2014/main" id="{C4076F1A-F762-BD4F-BA6F-56EB47DB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480" y="5664692"/>
            <a:ext cx="5730875" cy="2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4E30C-CCBD-E8BD-C3FB-2862F6EF7199}"/>
              </a:ext>
            </a:extLst>
          </p:cNvPr>
          <p:cNvSpPr txBox="1"/>
          <p:nvPr/>
        </p:nvSpPr>
        <p:spPr>
          <a:xfrm>
            <a:off x="3439477" y="393483"/>
            <a:ext cx="101422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M7 – Training Pipeline (Autoencoder training)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1189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488990"/>
            <a:ext cx="74305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Mockup M7 – Training Pipeline (Autoencoder training)</a:t>
            </a:r>
            <a:endParaRPr lang="en-US" sz="22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86E70B82-5811-9311-5C4F-084431B41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301487"/>
              </p:ext>
            </p:extLst>
          </p:nvPr>
        </p:nvGraphicFramePr>
        <p:xfrm>
          <a:off x="967126" y="1366219"/>
          <a:ext cx="11666835" cy="5497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8945">
                  <a:extLst>
                    <a:ext uri="{9D8B030D-6E8A-4147-A177-3AD203B41FA5}">
                      <a16:colId xmlns:a16="http://schemas.microsoft.com/office/drawing/2014/main" val="3049519663"/>
                    </a:ext>
                  </a:extLst>
                </a:gridCol>
                <a:gridCol w="3888945">
                  <a:extLst>
                    <a:ext uri="{9D8B030D-6E8A-4147-A177-3AD203B41FA5}">
                      <a16:colId xmlns:a16="http://schemas.microsoft.com/office/drawing/2014/main" val="1200530720"/>
                    </a:ext>
                  </a:extLst>
                </a:gridCol>
                <a:gridCol w="3888945">
                  <a:extLst>
                    <a:ext uri="{9D8B030D-6E8A-4147-A177-3AD203B41FA5}">
                      <a16:colId xmlns:a16="http://schemas.microsoft.com/office/drawing/2014/main" val="1567689717"/>
                    </a:ext>
                  </a:extLst>
                </a:gridCol>
              </a:tblGrid>
              <a:tr h="4794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Feature (derived from UI)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Functional Requirement (FR-ID: Statement)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Business Rule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extLst>
                  <a:ext uri="{0D108BD9-81ED-4DB2-BD59-A6C34878D82A}">
                    <a16:rowId xmlns:a16="http://schemas.microsoft.com/office/drawing/2014/main" val="2905890213"/>
                  </a:ext>
                </a:extLst>
              </a:tr>
              <a:tr h="99393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Data Source Selection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FR7.1: The system shall allow selection of training data source from recent benign traffic, custom date range, or uploaded dataset.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Training data must be labeled as benign (no attacks) before use.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3640239526"/>
                  </a:ext>
                </a:extLst>
              </a:tr>
              <a:tr h="99393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Model Configuration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FR7.2: The system shall allow configuration of autoencoder hyperparameters (encoding dimension, hidden layers, learning rate, epochs).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Configuration changes shall be validated for reasonable ranges.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938081052"/>
                  </a:ext>
                </a:extLst>
              </a:tr>
              <a:tr h="8653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Training Progress Display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FR7.3: The system shall display real-time training progress with loss values and estimated completion time.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Training shall support cancellation with automatic model rollback to previous version.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3836930772"/>
                  </a:ext>
                </a:extLst>
              </a:tr>
              <a:tr h="6080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Loss Curve Visualization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FR7.4: The system shall display training and validation loss curves during and after training.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Loss curves shall be available for comparison across training runs.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2910261107"/>
                  </a:ext>
                </a:extLst>
              </a:tr>
              <a:tr h="7366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Model Deployment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FR7.5: The system shall allow deployment of trained model as active inference engine after validation.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New model shall be validated against holdout test set before deployment.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218289985"/>
                  </a:ext>
                </a:extLst>
              </a:tr>
              <a:tr h="7366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Baseline Model Fallback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</a:rPr>
                        <a:t>FR7.6: The system shall allow reverting to baseline pre-trained model if new model underperforms.</a:t>
                      </a:r>
                      <a:endParaRPr lang="en-PK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77049" marT="48156" marB="4815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</a:rPr>
                        <a:t>Baseline model shall be preserved as fallback option.</a:t>
                      </a:r>
                      <a:endParaRPr lang="en-PK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049" marR="0" marT="48156" marB="48156" anchor="ctr"/>
                </a:tc>
                <a:extLst>
                  <a:ext uri="{0D108BD9-81ED-4DB2-BD59-A6C34878D82A}">
                    <a16:rowId xmlns:a16="http://schemas.microsoft.com/office/drawing/2014/main" val="194651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640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6206BBC-9D7D-5E98-DFF3-80A6F6E019ED}"/>
              </a:ext>
            </a:extLst>
          </p:cNvPr>
          <p:cNvSpPr/>
          <p:nvPr/>
        </p:nvSpPr>
        <p:spPr>
          <a:xfrm>
            <a:off x="1485543" y="836057"/>
            <a:ext cx="4215408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6.2 System Events Overview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B8E5329-2060-FBA3-8C5E-6CF9D5F76074}"/>
              </a:ext>
            </a:extLst>
          </p:cNvPr>
          <p:cNvSpPr/>
          <p:nvPr/>
        </p:nvSpPr>
        <p:spPr>
          <a:xfrm>
            <a:off x="1073561" y="1331477"/>
            <a:ext cx="11659195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Based on components M4 through M10, the following key events drive the WAF's behavior — </a:t>
            </a:r>
            <a:b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initial traffic intake to model retraining and human-in-the-loop rule approval.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818EFE5-80D6-02DC-FAFD-619BD8F44CA2}"/>
              </a:ext>
            </a:extLst>
          </p:cNvPr>
          <p:cNvSpPr/>
          <p:nvPr/>
        </p:nvSpPr>
        <p:spPr>
          <a:xfrm>
            <a:off x="1485543" y="1886069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313A090-2ADB-1460-EF60-BC4049210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43" y="2130028"/>
            <a:ext cx="5770721" cy="228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1F23CFFD-D49C-DA71-FD96-23D0FC7647C0}"/>
              </a:ext>
            </a:extLst>
          </p:cNvPr>
          <p:cNvSpPr/>
          <p:nvPr/>
        </p:nvSpPr>
        <p:spPr>
          <a:xfrm>
            <a:off x="1485543" y="2254210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Traffic Received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1828AB6-C7B8-65BA-666A-3294E7D16352}"/>
              </a:ext>
            </a:extLst>
          </p:cNvPr>
          <p:cNvSpPr/>
          <p:nvPr/>
        </p:nvSpPr>
        <p:spPr>
          <a:xfrm>
            <a:off x="1485543" y="2555796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 request arrives from external user/client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DB17BF7-7F77-D352-14D0-D01E42306394}"/>
              </a:ext>
            </a:extLst>
          </p:cNvPr>
          <p:cNvSpPr/>
          <p:nvPr/>
        </p:nvSpPr>
        <p:spPr>
          <a:xfrm>
            <a:off x="7374017" y="1886069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90E1D7E9-91ED-1CBC-9D77-8F7624DD5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17" y="2130028"/>
            <a:ext cx="5770721" cy="2286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B4C97B0B-15AA-3069-B9E7-B8B0D05D05D3}"/>
              </a:ext>
            </a:extLst>
          </p:cNvPr>
          <p:cNvSpPr/>
          <p:nvPr/>
        </p:nvSpPr>
        <p:spPr>
          <a:xfrm>
            <a:off x="7374017" y="2254210"/>
            <a:ext cx="28409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M4 Anomaly Detection Complete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E6A2210-69D3-6526-5048-1E9B7492A5B7}"/>
              </a:ext>
            </a:extLst>
          </p:cNvPr>
          <p:cNvSpPr/>
          <p:nvPr/>
        </p:nvSpPr>
        <p:spPr>
          <a:xfrm>
            <a:off x="7374017" y="2555796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Autoencoder finishes scoring the request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E96DA3B-93F7-ECDA-D78E-AF3AD6D8B2B5}"/>
              </a:ext>
            </a:extLst>
          </p:cNvPr>
          <p:cNvSpPr/>
          <p:nvPr/>
        </p:nvSpPr>
        <p:spPr>
          <a:xfrm>
            <a:off x="1485543" y="3011091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48B852FB-52EB-3A0C-4DDB-1C087BD1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43" y="3239452"/>
            <a:ext cx="5770721" cy="2286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E5026AD4-52E3-5746-260B-023EC59D7082}"/>
              </a:ext>
            </a:extLst>
          </p:cNvPr>
          <p:cNvSpPr/>
          <p:nvPr/>
        </p:nvSpPr>
        <p:spPr>
          <a:xfrm>
            <a:off x="1485543" y="3379232"/>
            <a:ext cx="2709029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M5 Outlier Detection Complete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6D17782-E07F-6FDF-199A-A21B530C88F9}"/>
              </a:ext>
            </a:extLst>
          </p:cNvPr>
          <p:cNvSpPr/>
          <p:nvPr/>
        </p:nvSpPr>
        <p:spPr>
          <a:xfrm>
            <a:off x="1485543" y="3680817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HDBSCAN finishes analyzing the request</a:t>
            </a:r>
            <a:endParaRPr lang="en-US" sz="16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40D2A91-F9BF-FBE5-C384-F29E444A37D4}"/>
              </a:ext>
            </a:extLst>
          </p:cNvPr>
          <p:cNvSpPr/>
          <p:nvPr/>
        </p:nvSpPr>
        <p:spPr>
          <a:xfrm>
            <a:off x="7374017" y="3011091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9E89743C-0BAB-F484-F31B-A8B05B53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17" y="3239452"/>
            <a:ext cx="5770721" cy="22860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0D795209-5F2D-5C5A-C04F-EB0F87766D26}"/>
              </a:ext>
            </a:extLst>
          </p:cNvPr>
          <p:cNvSpPr/>
          <p:nvPr/>
        </p:nvSpPr>
        <p:spPr>
          <a:xfrm>
            <a:off x="7374017" y="3379232"/>
            <a:ext cx="2499479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Consensus Decision Reached</a:t>
            </a:r>
            <a:endParaRPr lang="en-US" sz="1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00AC8DC-F2BF-60D8-C148-05707A188C78}"/>
              </a:ext>
            </a:extLst>
          </p:cNvPr>
          <p:cNvSpPr/>
          <p:nvPr/>
        </p:nvSpPr>
        <p:spPr>
          <a:xfrm>
            <a:off x="7374017" y="3680817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models have voted; final decision made</a:t>
            </a:r>
            <a:endParaRPr lang="en-US" sz="16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C6562F6-307B-A2C1-A1A4-5A65655ABD93}"/>
              </a:ext>
            </a:extLst>
          </p:cNvPr>
          <p:cNvSpPr/>
          <p:nvPr/>
        </p:nvSpPr>
        <p:spPr>
          <a:xfrm>
            <a:off x="1485543" y="4136112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B9D1F4F6-CE54-B946-6719-55B50EE6F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43" y="4348758"/>
            <a:ext cx="5770721" cy="22860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3E33E67A-54EA-75DD-496D-9B4B6B0C52EC}"/>
              </a:ext>
            </a:extLst>
          </p:cNvPr>
          <p:cNvSpPr/>
          <p:nvPr/>
        </p:nvSpPr>
        <p:spPr>
          <a:xfrm>
            <a:off x="1485543" y="4504253"/>
            <a:ext cx="207728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Attack Pattern Detected</a:t>
            </a:r>
            <a:endParaRPr lang="en-US" sz="16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A323767E-5FA8-7372-580A-0DC7E49C6CA4}"/>
              </a:ext>
            </a:extLst>
          </p:cNvPr>
          <p:cNvSpPr/>
          <p:nvPr/>
        </p:nvSpPr>
        <p:spPr>
          <a:xfrm>
            <a:off x="1485543" y="4805839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Pattern miner identifies a new attack type</a:t>
            </a:r>
            <a:endParaRPr lang="en-US" sz="16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C25D8175-02A4-85BA-8DB9-D3EE772D63DC}"/>
              </a:ext>
            </a:extLst>
          </p:cNvPr>
          <p:cNvSpPr/>
          <p:nvPr/>
        </p:nvSpPr>
        <p:spPr>
          <a:xfrm>
            <a:off x="7374017" y="4136112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06</a:t>
            </a:r>
            <a:endParaRPr lang="en-US" sz="1600" dirty="0"/>
          </a:p>
        </p:txBody>
      </p:sp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D973BF52-EEBD-EB35-6ACA-320A45A3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17" y="4348758"/>
            <a:ext cx="5770721" cy="22860"/>
          </a:xfrm>
          <a:prstGeom prst="rect">
            <a:avLst/>
          </a:prstGeom>
        </p:spPr>
      </p:pic>
      <p:sp>
        <p:nvSpPr>
          <p:cNvPr id="28" name="Text 18">
            <a:extLst>
              <a:ext uri="{FF2B5EF4-FFF2-40B4-BE49-F238E27FC236}">
                <a16:creationId xmlns:a16="http://schemas.microsoft.com/office/drawing/2014/main" id="{FDA7FF47-2890-90A2-C168-013283F02437}"/>
              </a:ext>
            </a:extLst>
          </p:cNvPr>
          <p:cNvSpPr/>
          <p:nvPr/>
        </p:nvSpPr>
        <p:spPr>
          <a:xfrm>
            <a:off x="7374017" y="4504253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Rule Generated</a:t>
            </a:r>
            <a:endParaRPr lang="en-US" sz="16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4BBB7370-4E2D-A2A2-5F79-8AB0843E2F9A}"/>
              </a:ext>
            </a:extLst>
          </p:cNvPr>
          <p:cNvSpPr/>
          <p:nvPr/>
        </p:nvSpPr>
        <p:spPr>
          <a:xfrm>
            <a:off x="7374017" y="4805839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creates a new ModSecurity rule from a pattern</a:t>
            </a:r>
            <a:endParaRPr lang="en-US" sz="16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0D5D71A7-3F5E-9CD9-7FD6-E067E41DF4CB}"/>
              </a:ext>
            </a:extLst>
          </p:cNvPr>
          <p:cNvSpPr/>
          <p:nvPr/>
        </p:nvSpPr>
        <p:spPr>
          <a:xfrm>
            <a:off x="1485543" y="5261134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07</a:t>
            </a:r>
            <a:endParaRPr lang="en-US" sz="1600" dirty="0"/>
          </a:p>
        </p:txBody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D6F79343-F33B-8060-F731-DB9808AC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43" y="5458182"/>
            <a:ext cx="5770721" cy="22860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A0531F5D-03B4-58E3-C6B9-CF130F292903}"/>
              </a:ext>
            </a:extLst>
          </p:cNvPr>
          <p:cNvSpPr/>
          <p:nvPr/>
        </p:nvSpPr>
        <p:spPr>
          <a:xfrm>
            <a:off x="1485543" y="5629275"/>
            <a:ext cx="221539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Approved / Rejected</a:t>
            </a:r>
            <a:endParaRPr lang="en-US" sz="16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C36E23F0-563A-3A55-CE0E-F5CE458C318E}"/>
              </a:ext>
            </a:extLst>
          </p:cNvPr>
          <p:cNvSpPr/>
          <p:nvPr/>
        </p:nvSpPr>
        <p:spPr>
          <a:xfrm>
            <a:off x="1485543" y="5930860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 admin reviews and decides on the rule</a:t>
            </a:r>
            <a:endParaRPr lang="en-US" sz="16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4DC500B0-9B74-E1C9-EC55-58A18A7B5CFE}"/>
              </a:ext>
            </a:extLst>
          </p:cNvPr>
          <p:cNvSpPr/>
          <p:nvPr/>
        </p:nvSpPr>
        <p:spPr>
          <a:xfrm>
            <a:off x="7374017" y="5261134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08</a:t>
            </a:r>
            <a:endParaRPr lang="en-US" sz="1600" dirty="0"/>
          </a:p>
        </p:txBody>
      </p:sp>
      <p:pic>
        <p:nvPicPr>
          <p:cNvPr id="35" name="Image 7" descr="preencoded.png">
            <a:extLst>
              <a:ext uri="{FF2B5EF4-FFF2-40B4-BE49-F238E27FC236}">
                <a16:creationId xmlns:a16="http://schemas.microsoft.com/office/drawing/2014/main" id="{2506486A-5844-4C5E-556B-C2DC2946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17" y="5458182"/>
            <a:ext cx="5770721" cy="22860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02F75B88-AF3D-DCA4-BD3E-AB24C97B8450}"/>
              </a:ext>
            </a:extLst>
          </p:cNvPr>
          <p:cNvSpPr/>
          <p:nvPr/>
        </p:nvSpPr>
        <p:spPr>
          <a:xfrm>
            <a:off x="7374017" y="5629275"/>
            <a:ext cx="21881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Training Complete</a:t>
            </a:r>
            <a:endParaRPr lang="en-US" sz="16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FC835D9F-1CBB-BBD0-B4B9-64E70261B6AE}"/>
              </a:ext>
            </a:extLst>
          </p:cNvPr>
          <p:cNvSpPr/>
          <p:nvPr/>
        </p:nvSpPr>
        <p:spPr>
          <a:xfrm>
            <a:off x="7374017" y="5930860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Autoencoder finishes retraining on new data</a:t>
            </a:r>
            <a:endParaRPr lang="en-US" sz="16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5D5EE457-4124-2C0D-CE0D-D3E942712459}"/>
              </a:ext>
            </a:extLst>
          </p:cNvPr>
          <p:cNvSpPr/>
          <p:nvPr/>
        </p:nvSpPr>
        <p:spPr>
          <a:xfrm>
            <a:off x="1485543" y="6386155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09</a:t>
            </a:r>
            <a:endParaRPr lang="en-US" sz="1600" dirty="0"/>
          </a:p>
        </p:txBody>
      </p:sp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4406DD17-0233-F788-A903-467172F7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43" y="6567488"/>
            <a:ext cx="5770721" cy="22860"/>
          </a:xfrm>
          <a:prstGeom prst="rect">
            <a:avLst/>
          </a:prstGeom>
        </p:spPr>
      </p:pic>
      <p:sp>
        <p:nvSpPr>
          <p:cNvPr id="40" name="Text 27">
            <a:extLst>
              <a:ext uri="{FF2B5EF4-FFF2-40B4-BE49-F238E27FC236}">
                <a16:creationId xmlns:a16="http://schemas.microsoft.com/office/drawing/2014/main" id="{1B0D1706-AEB7-1C02-887A-9B2AF0BC5C72}"/>
              </a:ext>
            </a:extLst>
          </p:cNvPr>
          <p:cNvSpPr/>
          <p:nvPr/>
        </p:nvSpPr>
        <p:spPr>
          <a:xfrm>
            <a:off x="1485543" y="6754297"/>
            <a:ext cx="198298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False Positive Detected</a:t>
            </a:r>
            <a:endParaRPr lang="en-US" sz="16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A2571112-0B3E-BF58-6F36-FA0C3447563E}"/>
              </a:ext>
            </a:extLst>
          </p:cNvPr>
          <p:cNvSpPr/>
          <p:nvPr/>
        </p:nvSpPr>
        <p:spPr>
          <a:xfrm>
            <a:off x="1485543" y="7055882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marks a blocked request as harmless</a:t>
            </a:r>
            <a:endParaRPr lang="en-US" sz="160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26701211-47E8-CC9F-3F3B-284CB51BE9E5}"/>
              </a:ext>
            </a:extLst>
          </p:cNvPr>
          <p:cNvSpPr/>
          <p:nvPr/>
        </p:nvSpPr>
        <p:spPr>
          <a:xfrm>
            <a:off x="7374017" y="6386155"/>
            <a:ext cx="157043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10</a:t>
            </a:r>
            <a:endParaRPr lang="en-US" sz="1600" dirty="0"/>
          </a:p>
        </p:txBody>
      </p:sp>
      <p:pic>
        <p:nvPicPr>
          <p:cNvPr id="43" name="Image 9" descr="preencoded.png">
            <a:extLst>
              <a:ext uri="{FF2B5EF4-FFF2-40B4-BE49-F238E27FC236}">
                <a16:creationId xmlns:a16="http://schemas.microsoft.com/office/drawing/2014/main" id="{06FC6FF9-A41C-9795-CEB1-CA743F55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17" y="6567488"/>
            <a:ext cx="5770721" cy="22860"/>
          </a:xfrm>
          <a:prstGeom prst="rect">
            <a:avLst/>
          </a:prstGeom>
        </p:spPr>
      </p:pic>
      <p:sp>
        <p:nvSpPr>
          <p:cNvPr id="44" name="Text 30">
            <a:extLst>
              <a:ext uri="{FF2B5EF4-FFF2-40B4-BE49-F238E27FC236}">
                <a16:creationId xmlns:a16="http://schemas.microsoft.com/office/drawing/2014/main" id="{5A37F24C-B74F-5CBC-5ED0-5122C97CA6EA}"/>
              </a:ext>
            </a:extLst>
          </p:cNvPr>
          <p:cNvSpPr/>
          <p:nvPr/>
        </p:nvSpPr>
        <p:spPr>
          <a:xfrm>
            <a:off x="7374017" y="6754297"/>
            <a:ext cx="266557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Performance Degraded</a:t>
            </a:r>
            <a:endParaRPr lang="en-US" sz="1600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82F2823-67F3-D778-EEF6-90C4E6194F9C}"/>
              </a:ext>
            </a:extLst>
          </p:cNvPr>
          <p:cNvSpPr/>
          <p:nvPr/>
        </p:nvSpPr>
        <p:spPr>
          <a:xfrm>
            <a:off x="7374017" y="7055882"/>
            <a:ext cx="577072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accuracy drops below acceptable levels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25720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582B04-398E-199E-8031-44B0DBCFC5C9}"/>
              </a:ext>
            </a:extLst>
          </p:cNvPr>
          <p:cNvSpPr/>
          <p:nvPr/>
        </p:nvSpPr>
        <p:spPr>
          <a:xfrm>
            <a:off x="2304401" y="600573"/>
            <a:ext cx="4379378" cy="7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6.2 Event–Response Table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F444EB-E276-8742-6251-501901BB288E}"/>
              </a:ext>
            </a:extLst>
          </p:cNvPr>
          <p:cNvSpPr/>
          <p:nvPr/>
        </p:nvSpPr>
        <p:spPr>
          <a:xfrm>
            <a:off x="813916" y="1258455"/>
            <a:ext cx="13253795" cy="313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 A-5: Event–Response Table for Enhanced ModSecurity WAF System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DDA743-AA94-7DD0-5147-8B6780C42537}"/>
              </a:ext>
            </a:extLst>
          </p:cNvPr>
          <p:cNvSpPr/>
          <p:nvPr/>
        </p:nvSpPr>
        <p:spPr>
          <a:xfrm>
            <a:off x="813916" y="2277189"/>
            <a:ext cx="13233679" cy="524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ED0DE5-4CD6-A45C-8824-9DA8F9707764}"/>
              </a:ext>
            </a:extLst>
          </p:cNvPr>
          <p:cNvSpPr/>
          <p:nvPr/>
        </p:nvSpPr>
        <p:spPr>
          <a:xfrm>
            <a:off x="813916" y="2575203"/>
            <a:ext cx="13233679" cy="524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F2D2274-AE03-8E60-2E50-5BC415191B20}"/>
              </a:ext>
            </a:extLst>
          </p:cNvPr>
          <p:cNvSpPr/>
          <p:nvPr/>
        </p:nvSpPr>
        <p:spPr>
          <a:xfrm>
            <a:off x="813916" y="2873216"/>
            <a:ext cx="13233679" cy="8378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48EABFA-B9B2-4DA5-7709-FF55D070886D}"/>
              </a:ext>
            </a:extLst>
          </p:cNvPr>
          <p:cNvSpPr/>
          <p:nvPr/>
        </p:nvSpPr>
        <p:spPr>
          <a:xfrm>
            <a:off x="813916" y="3349228"/>
            <a:ext cx="13233679" cy="8378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01CA626-D495-EA75-EA73-2F136DE5B387}"/>
              </a:ext>
            </a:extLst>
          </p:cNvPr>
          <p:cNvSpPr/>
          <p:nvPr/>
        </p:nvSpPr>
        <p:spPr>
          <a:xfrm>
            <a:off x="813916" y="3825240"/>
            <a:ext cx="13233679" cy="8378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F201974-CE84-6F66-3F14-DC9A46DE5E81}"/>
              </a:ext>
            </a:extLst>
          </p:cNvPr>
          <p:cNvSpPr/>
          <p:nvPr/>
        </p:nvSpPr>
        <p:spPr>
          <a:xfrm>
            <a:off x="813916" y="4301252"/>
            <a:ext cx="13233679" cy="524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27DA456-AA37-8799-B29F-6838745C150B}"/>
              </a:ext>
            </a:extLst>
          </p:cNvPr>
          <p:cNvSpPr/>
          <p:nvPr/>
        </p:nvSpPr>
        <p:spPr>
          <a:xfrm>
            <a:off x="813916" y="4599265"/>
            <a:ext cx="13233679" cy="8378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2E593E8-0BF3-BBD8-B9EF-02F39AEE4B65}"/>
              </a:ext>
            </a:extLst>
          </p:cNvPr>
          <p:cNvSpPr/>
          <p:nvPr/>
        </p:nvSpPr>
        <p:spPr>
          <a:xfrm>
            <a:off x="813916" y="5075277"/>
            <a:ext cx="13233679" cy="8378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8957DB1-EE5D-E171-541B-7C25E0FBFEA9}"/>
              </a:ext>
            </a:extLst>
          </p:cNvPr>
          <p:cNvSpPr/>
          <p:nvPr/>
        </p:nvSpPr>
        <p:spPr>
          <a:xfrm>
            <a:off x="813916" y="5551289"/>
            <a:ext cx="13233679" cy="8378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DC45E54-EA31-BF1A-C037-669F76C1F49D}"/>
              </a:ext>
            </a:extLst>
          </p:cNvPr>
          <p:cNvSpPr/>
          <p:nvPr/>
        </p:nvSpPr>
        <p:spPr>
          <a:xfrm>
            <a:off x="813916" y="6027301"/>
            <a:ext cx="13233679" cy="524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4F7ACA2A-82C7-EAB2-097A-F2BA03BF5793}"/>
              </a:ext>
            </a:extLst>
          </p:cNvPr>
          <p:cNvSpPr/>
          <p:nvPr/>
        </p:nvSpPr>
        <p:spPr>
          <a:xfrm>
            <a:off x="813916" y="6325314"/>
            <a:ext cx="13233679" cy="8378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 sz="1400"/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A20FECE7-B710-2768-C29C-CAB444EAF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449357"/>
              </p:ext>
            </p:extLst>
          </p:nvPr>
        </p:nvGraphicFramePr>
        <p:xfrm>
          <a:off x="813916" y="1832080"/>
          <a:ext cx="11796767" cy="5953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9267">
                  <a:extLst>
                    <a:ext uri="{9D8B030D-6E8A-4147-A177-3AD203B41FA5}">
                      <a16:colId xmlns:a16="http://schemas.microsoft.com/office/drawing/2014/main" val="1612788398"/>
                    </a:ext>
                  </a:extLst>
                </a:gridCol>
                <a:gridCol w="1809697">
                  <a:extLst>
                    <a:ext uri="{9D8B030D-6E8A-4147-A177-3AD203B41FA5}">
                      <a16:colId xmlns:a16="http://schemas.microsoft.com/office/drawing/2014/main" val="2316806392"/>
                    </a:ext>
                  </a:extLst>
                </a:gridCol>
                <a:gridCol w="1641628">
                  <a:extLst>
                    <a:ext uri="{9D8B030D-6E8A-4147-A177-3AD203B41FA5}">
                      <a16:colId xmlns:a16="http://schemas.microsoft.com/office/drawing/2014/main" val="1817922983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3690981891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83980627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844886722"/>
                    </a:ext>
                  </a:extLst>
                </a:gridCol>
                <a:gridCol w="1791943">
                  <a:extLst>
                    <a:ext uri="{9D8B030D-6E8A-4147-A177-3AD203B41FA5}">
                      <a16:colId xmlns:a16="http://schemas.microsoft.com/office/drawing/2014/main" val="2792109551"/>
                    </a:ext>
                  </a:extLst>
                </a:gridCol>
              </a:tblGrid>
              <a:tr h="328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Event Name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What Triggers It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Where It Comes From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System State (Before)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What the System Does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System State (After)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What If Something Goes Wrong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3430772011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Traffic Received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HTTP request arrives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External user/client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Waiting for request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Extracts request data, logs it, sends to M4 &amp; M5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Under analysis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Log error and return 400 if malformed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4199813162"/>
                  </a:ext>
                </a:extLst>
              </a:tr>
              <a:tr h="649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M4 Anomaly Detection Complete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Autoencoder finishes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M4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Waiting for ML result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Calculate anomaly score, flags if above threshold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Score stored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Fallback to ModSecurity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3192881252"/>
                  </a:ext>
                </a:extLst>
              </a:tr>
              <a:tr h="40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M5 Outlier Detection Complete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Clustering completes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M5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Waiting for result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Assigns outlier score and cluster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Score stored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Assign neutral score (0.5)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803218119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Consensus Decision Reached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All models respond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M6 Engine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Waiting for decision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Computes weighted score, allows/blocks request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Decision logged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Fallback to ModSecurity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216237442"/>
                  </a:ext>
                </a:extLst>
              </a:tr>
              <a:tr h="40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Attack Pattern Detected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Pattern identified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M8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Monitoring logs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Extracts and stores attack pattern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Ready for rule generation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Flag for manual review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2449317745"/>
                  </a:ext>
                </a:extLst>
              </a:tr>
              <a:tr h="4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LLM Rule Generated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Pattern processed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M9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Waiting for rule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Generates rule and adds to review queue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Pending review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Mark for manual creation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2066785208"/>
                  </a:ext>
                </a:extLst>
              </a:tr>
              <a:tr h="4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Rule Approved/Rejected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Admin reviews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M10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In review queue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Approve → deploy, Reject → archive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Rule active or archived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Rollback if deployment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>
                          <a:effectLst/>
                        </a:rPr>
                        <a:t>fails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1287466228"/>
                  </a:ext>
                </a:extLst>
              </a:tr>
              <a:tr h="4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Model Training Complete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Training finishes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M4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Training in progress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Validates and deploys if improved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Model updated or unchanged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Revert to previous model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3812452267"/>
                  </a:ext>
                </a:extLst>
              </a:tr>
              <a:tr h="40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False Positive Detected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Admin flags request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M7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Running normally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Updates dataset and adjusts model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Dataset updated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Skip if data issue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3882157615"/>
                  </a:ext>
                </a:extLst>
              </a:tr>
              <a:tr h="408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System Performance Degraded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Accuracy drops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Monitoring Module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Running normally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Alerts admin, switches to safe mode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Safe mode active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Disable ML if needed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7" marR="3587" marT="3587" marB="3587" anchor="ctr"/>
                </a:tc>
                <a:extLst>
                  <a:ext uri="{0D108BD9-81ED-4DB2-BD59-A6C34878D82A}">
                    <a16:rowId xmlns:a16="http://schemas.microsoft.com/office/drawing/2014/main" val="4084348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088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548903-0241-D2FE-A7AD-D5A21EA2E7E0}"/>
              </a:ext>
            </a:extLst>
          </p:cNvPr>
          <p:cNvSpPr/>
          <p:nvPr/>
        </p:nvSpPr>
        <p:spPr>
          <a:xfrm>
            <a:off x="1497687" y="1108591"/>
            <a:ext cx="5731312" cy="461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6.2.1 Derived Functional Requirements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B986CC-9F3C-AB9D-4A75-699916DAFE8E}"/>
              </a:ext>
            </a:extLst>
          </p:cNvPr>
          <p:cNvSpPr/>
          <p:nvPr/>
        </p:nvSpPr>
        <p:spPr>
          <a:xfrm>
            <a:off x="1497687" y="1804154"/>
            <a:ext cx="11634907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 A-6: Functional Requirements Derived from Event–Response Table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4F5EBB-1FE1-4D3C-C500-8FE235E3E52E}"/>
              </a:ext>
            </a:extLst>
          </p:cNvPr>
          <p:cNvSpPr/>
          <p:nvPr/>
        </p:nvSpPr>
        <p:spPr>
          <a:xfrm>
            <a:off x="1497687" y="2155388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67B133A-29C2-50C0-9DB1-6578C480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27" y="2155388"/>
            <a:ext cx="91440" cy="109859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E0F5272-E441-3FD8-FEBB-70278F5DE393}"/>
              </a:ext>
            </a:extLst>
          </p:cNvPr>
          <p:cNvSpPr/>
          <p:nvPr/>
        </p:nvSpPr>
        <p:spPr>
          <a:xfrm>
            <a:off x="1745813" y="2334935"/>
            <a:ext cx="2414349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FR-MOD-1 — Traffic Parsing</a:t>
            </a:r>
            <a:endParaRPr lang="en-US" sz="14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D81241D-3E78-BC10-1EA6-3222B969A500}"/>
              </a:ext>
            </a:extLst>
          </p:cNvPr>
          <p:cNvSpPr/>
          <p:nvPr/>
        </p:nvSpPr>
        <p:spPr>
          <a:xfrm>
            <a:off x="1745813" y="2635806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IP, URI, method, headers, and payload from every HTTP request. Reject malformed requests with a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400 error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before ML analysis.</a:t>
            </a:r>
            <a:endParaRPr lang="en-US" sz="1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C997CAF-758C-A0BF-48B6-8567FB1B0197}"/>
              </a:ext>
            </a:extLst>
          </p:cNvPr>
          <p:cNvSpPr/>
          <p:nvPr/>
        </p:nvSpPr>
        <p:spPr>
          <a:xfrm>
            <a:off x="7373779" y="2155388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614E6BF2-9273-B7D1-D035-67DE4796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919" y="2155388"/>
            <a:ext cx="91440" cy="109859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0B57D01D-8B98-09F3-2B9A-7D8B78CA8E54}"/>
              </a:ext>
            </a:extLst>
          </p:cNvPr>
          <p:cNvSpPr/>
          <p:nvPr/>
        </p:nvSpPr>
        <p:spPr>
          <a:xfrm>
            <a:off x="7621905" y="2334935"/>
            <a:ext cx="2422446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FR-M4-1 — Anomaly Scoring</a:t>
            </a:r>
            <a:endParaRPr lang="en-US" sz="14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9594005-2604-9D6D-2AF7-07B477BC05AE}"/>
              </a:ext>
            </a:extLst>
          </p:cNvPr>
          <p:cNvSpPr/>
          <p:nvPr/>
        </p:nvSpPr>
        <p:spPr>
          <a:xfrm>
            <a:off x="7621905" y="2635806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 reconstruction error via autoencoder; flag scores above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0.15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 suspicious. Threshold adjustable between 0.01–0.50 by admins.</a:t>
            </a:r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CAFD074-69FC-A646-66C5-58ABB5AAE11B}"/>
              </a:ext>
            </a:extLst>
          </p:cNvPr>
          <p:cNvSpPr/>
          <p:nvPr/>
        </p:nvSpPr>
        <p:spPr>
          <a:xfrm>
            <a:off x="1497687" y="3371255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F6C0C242-8BDC-354F-3AEC-5886F067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27" y="3371255"/>
            <a:ext cx="91440" cy="109859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5DF473F-3289-E077-6D95-C236AFDA3463}"/>
              </a:ext>
            </a:extLst>
          </p:cNvPr>
          <p:cNvSpPr/>
          <p:nvPr/>
        </p:nvSpPr>
        <p:spPr>
          <a:xfrm>
            <a:off x="1745813" y="3550801"/>
            <a:ext cx="2482096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FR-M5-1 — Outlier Detection</a:t>
            </a:r>
            <a:endParaRPr lang="en-US" sz="14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E0A7533-FC1A-ACB6-084F-A6A2F3175646}"/>
              </a:ext>
            </a:extLst>
          </p:cNvPr>
          <p:cNvSpPr/>
          <p:nvPr/>
        </p:nvSpPr>
        <p:spPr>
          <a:xfrm>
            <a:off x="1745813" y="3851672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 outlier scores using HDBSCAN targeting small clusters of unusual traffic. All outlier-flagged requests count toward the final consensus decision.</a:t>
            </a:r>
            <a:endParaRPr lang="en-US" sz="1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D6CBE88-875D-5A2D-871D-7B37AB86D7DD}"/>
              </a:ext>
            </a:extLst>
          </p:cNvPr>
          <p:cNvSpPr/>
          <p:nvPr/>
        </p:nvSpPr>
        <p:spPr>
          <a:xfrm>
            <a:off x="7373779" y="3371255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954D65C8-BF37-4572-EB63-3A6EB92F3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919" y="3371255"/>
            <a:ext cx="91440" cy="109859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8BD62B22-01EB-E17A-D97E-7A4E5B8B5399}"/>
              </a:ext>
            </a:extLst>
          </p:cNvPr>
          <p:cNvSpPr/>
          <p:nvPr/>
        </p:nvSpPr>
        <p:spPr>
          <a:xfrm>
            <a:off x="7621905" y="3550801"/>
            <a:ext cx="255555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FR-M6-1 — Consensus Engine</a:t>
            </a:r>
            <a:endParaRPr lang="en-US" sz="14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13E6232-AA93-CF52-6E1C-E155CACEE27E}"/>
              </a:ext>
            </a:extLst>
          </p:cNvPr>
          <p:cNvSpPr/>
          <p:nvPr/>
        </p:nvSpPr>
        <p:spPr>
          <a:xfrm>
            <a:off x="7621905" y="3851672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 scores: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M4 40%, M5 30%, ModSecurity 30%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Block any request with a final score ≥ 0.65. Weights and threshold are admin-configurable.</a:t>
            </a:r>
            <a:endParaRPr lang="en-US" sz="12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E8A776D-5605-F637-05F6-DDA587916DDB}"/>
              </a:ext>
            </a:extLst>
          </p:cNvPr>
          <p:cNvSpPr/>
          <p:nvPr/>
        </p:nvSpPr>
        <p:spPr>
          <a:xfrm>
            <a:off x="1497687" y="4587121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9DFE859-E76E-3E51-7FF6-BFAA72749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27" y="4587121"/>
            <a:ext cx="91440" cy="1098590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76E0C45E-BA4D-9A9B-32D1-9300F54D7C62}"/>
              </a:ext>
            </a:extLst>
          </p:cNvPr>
          <p:cNvSpPr/>
          <p:nvPr/>
        </p:nvSpPr>
        <p:spPr>
          <a:xfrm>
            <a:off x="1745813" y="4766667"/>
            <a:ext cx="226849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FR-M8-1 — Pattern Mining</a:t>
            </a:r>
            <a:endParaRPr lang="en-US" sz="14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59364C5-9A5C-8804-D0BD-BDC3831FEC6F}"/>
              </a:ext>
            </a:extLst>
          </p:cNvPr>
          <p:cNvSpPr/>
          <p:nvPr/>
        </p:nvSpPr>
        <p:spPr>
          <a:xfrm>
            <a:off x="1745813" y="5067538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 blocked traffic daily for new attack patterns with confidence scores. Only patterns with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≥ 70% confidence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automatically forwarded to the LLM.</a:t>
            </a:r>
            <a:endParaRPr lang="en-US" sz="12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0DDC9A7D-A531-38B6-4F92-956EABE58803}"/>
              </a:ext>
            </a:extLst>
          </p:cNvPr>
          <p:cNvSpPr/>
          <p:nvPr/>
        </p:nvSpPr>
        <p:spPr>
          <a:xfrm>
            <a:off x="7373779" y="4587121"/>
            <a:ext cx="5758815" cy="1098590"/>
          </a:xfrm>
          <a:prstGeom prst="roundRect">
            <a:avLst>
              <a:gd name="adj" fmla="val 998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12202AB4-D928-F5BE-D2F2-2B284D61A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919" y="4587121"/>
            <a:ext cx="91440" cy="1098590"/>
          </a:xfrm>
          <a:prstGeom prst="rect">
            <a:avLst/>
          </a:prstGeom>
        </p:spPr>
      </p:pic>
      <p:sp>
        <p:nvSpPr>
          <p:cNvPr id="26" name="Text 18">
            <a:extLst>
              <a:ext uri="{FF2B5EF4-FFF2-40B4-BE49-F238E27FC236}">
                <a16:creationId xmlns:a16="http://schemas.microsoft.com/office/drawing/2014/main" id="{83B40B9B-6F49-3F95-17E7-24D9EFC36542}"/>
              </a:ext>
            </a:extLst>
          </p:cNvPr>
          <p:cNvSpPr/>
          <p:nvPr/>
        </p:nvSpPr>
        <p:spPr>
          <a:xfrm>
            <a:off x="7621905" y="4766667"/>
            <a:ext cx="2806303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FR-M9-1 — LLM Rule Generation</a:t>
            </a:r>
            <a:endParaRPr lang="en-US" sz="145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21D6622-39F5-E641-2A33-E441041BC0D3}"/>
              </a:ext>
            </a:extLst>
          </p:cNvPr>
          <p:cNvSpPr/>
          <p:nvPr/>
        </p:nvSpPr>
        <p:spPr>
          <a:xfrm>
            <a:off x="7621905" y="5067538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ModSecurity rules from validated patterns. Every rule must pass a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 check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before entering the review queue.</a:t>
            </a:r>
            <a:endParaRPr lang="en-US" sz="12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C4DB6B53-9CB2-5184-8294-4E752BC3D1C2}"/>
              </a:ext>
            </a:extLst>
          </p:cNvPr>
          <p:cNvSpPr/>
          <p:nvPr/>
        </p:nvSpPr>
        <p:spPr>
          <a:xfrm>
            <a:off x="1497687" y="5802987"/>
            <a:ext cx="5758815" cy="1317903"/>
          </a:xfrm>
          <a:prstGeom prst="roundRect">
            <a:avLst>
              <a:gd name="adj" fmla="val 832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0D3D3149-98ED-5DAE-B2B0-227C7FB7F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27" y="5802987"/>
            <a:ext cx="91440" cy="1317903"/>
          </a:xfrm>
          <a:prstGeom prst="rect">
            <a:avLst/>
          </a:prstGeom>
        </p:spPr>
      </p:pic>
      <p:sp>
        <p:nvSpPr>
          <p:cNvPr id="30" name="Text 21">
            <a:extLst>
              <a:ext uri="{FF2B5EF4-FFF2-40B4-BE49-F238E27FC236}">
                <a16:creationId xmlns:a16="http://schemas.microsoft.com/office/drawing/2014/main" id="{412B1048-85F5-CD4D-333D-5A1E84DEDFEA}"/>
              </a:ext>
            </a:extLst>
          </p:cNvPr>
          <p:cNvSpPr/>
          <p:nvPr/>
        </p:nvSpPr>
        <p:spPr>
          <a:xfrm>
            <a:off x="1745813" y="5982533"/>
            <a:ext cx="2703671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FR-M10-1 — Rule Review Queue</a:t>
            </a:r>
            <a:endParaRPr lang="en-US" sz="145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B6151BA8-247B-CDAA-2C16-54101B1B6A37}"/>
              </a:ext>
            </a:extLst>
          </p:cNvPr>
          <p:cNvSpPr/>
          <p:nvPr/>
        </p:nvSpPr>
        <p:spPr>
          <a:xfrm>
            <a:off x="1745813" y="6283404"/>
            <a:ext cx="5331143" cy="4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a human-review queue.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rule deploys without explicit admin approval.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Rules in queue are never live.</a:t>
            </a:r>
            <a:endParaRPr lang="en-US" sz="12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DF998BC6-C22B-A637-E4CF-C7237FE3B52C}"/>
              </a:ext>
            </a:extLst>
          </p:cNvPr>
          <p:cNvSpPr/>
          <p:nvPr/>
        </p:nvSpPr>
        <p:spPr>
          <a:xfrm>
            <a:off x="7373779" y="5802987"/>
            <a:ext cx="5758815" cy="1317903"/>
          </a:xfrm>
          <a:prstGeom prst="roundRect">
            <a:avLst>
              <a:gd name="adj" fmla="val 832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7" descr="preencoded.png">
            <a:extLst>
              <a:ext uri="{FF2B5EF4-FFF2-40B4-BE49-F238E27FC236}">
                <a16:creationId xmlns:a16="http://schemas.microsoft.com/office/drawing/2014/main" id="{207438B2-055D-87C1-63AC-9465FFAE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919" y="5802987"/>
            <a:ext cx="91440" cy="1317903"/>
          </a:xfrm>
          <a:prstGeom prst="rect">
            <a:avLst/>
          </a:prstGeom>
        </p:spPr>
      </p:pic>
      <p:sp>
        <p:nvSpPr>
          <p:cNvPr id="34" name="Text 24">
            <a:extLst>
              <a:ext uri="{FF2B5EF4-FFF2-40B4-BE49-F238E27FC236}">
                <a16:creationId xmlns:a16="http://schemas.microsoft.com/office/drawing/2014/main" id="{1575C918-D59A-E966-C5EE-E84206C47DA3}"/>
              </a:ext>
            </a:extLst>
          </p:cNvPr>
          <p:cNvSpPr/>
          <p:nvPr/>
        </p:nvSpPr>
        <p:spPr>
          <a:xfrm>
            <a:off x="7621905" y="5982533"/>
            <a:ext cx="2819757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FR-M4-2 / FR-M7-1 / FR-MON-1</a:t>
            </a:r>
            <a:endParaRPr lang="en-US" sz="145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68C0D2F-E3B4-F893-2179-E403275849BF}"/>
              </a:ext>
            </a:extLst>
          </p:cNvPr>
          <p:cNvSpPr/>
          <p:nvPr/>
        </p:nvSpPr>
        <p:spPr>
          <a:xfrm>
            <a:off x="7621905" y="6283404"/>
            <a:ext cx="5331143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Admins retrain autoencoder; new model auto-deploys only if false positives improve. False positive records retained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year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Alerts fire if FP rate &gt; 5% or accuracy &lt; 90%.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7312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EF5F0-6D07-46E0-37AD-F9CC4BC4B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72" y="447946"/>
            <a:ext cx="12234769" cy="73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24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AF263-EDED-19DF-E547-9B40B81FB256}"/>
              </a:ext>
            </a:extLst>
          </p:cNvPr>
          <p:cNvSpPr txBox="1"/>
          <p:nvPr/>
        </p:nvSpPr>
        <p:spPr>
          <a:xfrm>
            <a:off x="3999244" y="3064747"/>
            <a:ext cx="72649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</a:t>
            </a:r>
            <a:endParaRPr lang="en-PK" sz="9600" dirty="0"/>
          </a:p>
        </p:txBody>
      </p:sp>
    </p:spTree>
    <p:extLst>
      <p:ext uri="{BB962C8B-B14F-4D97-AF65-F5344CB8AC3E}">
        <p14:creationId xmlns:p14="http://schemas.microsoft.com/office/powerpoint/2010/main" val="10798110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elestial">
    <a:dk1>
      <a:sysClr val="windowText" lastClr="000000"/>
    </a:dk1>
    <a:lt1>
      <a:sysClr val="window" lastClr="FFFFFF"/>
    </a:lt1>
    <a:dk2>
      <a:srgbClr val="18276C"/>
    </a:dk2>
    <a:lt2>
      <a:srgbClr val="EBEBEB"/>
    </a:lt2>
    <a:accent1>
      <a:srgbClr val="AC3EC1"/>
    </a:accent1>
    <a:accent2>
      <a:srgbClr val="477BD1"/>
    </a:accent2>
    <a:accent3>
      <a:srgbClr val="46B298"/>
    </a:accent3>
    <a:accent4>
      <a:srgbClr val="90BA4C"/>
    </a:accent4>
    <a:accent5>
      <a:srgbClr val="DD9D31"/>
    </a:accent5>
    <a:accent6>
      <a:srgbClr val="E25247"/>
    </a:accent6>
    <a:hlink>
      <a:srgbClr val="C573D2"/>
    </a:hlink>
    <a:folHlink>
      <a:srgbClr val="CCAE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3367</Words>
  <Application>Microsoft Office PowerPoint</Application>
  <PresentationFormat>Custom</PresentationFormat>
  <Paragraphs>433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Aptos</vt:lpstr>
      <vt:lpstr>Manrope</vt:lpstr>
      <vt:lpstr>Calibri Light</vt:lpstr>
      <vt:lpstr>Prata</vt:lpstr>
      <vt:lpstr>Arial</vt:lpstr>
      <vt:lpstr>Lora</vt:lpstr>
      <vt:lpstr>Lora Light</vt:lpstr>
      <vt:lpstr>Source Sans 3</vt:lpstr>
      <vt:lpstr>Times New Roman</vt:lpstr>
      <vt:lpstr>Roboto</vt:lpstr>
      <vt:lpstr>Roboto Medium</vt:lpstr>
      <vt:lpstr>Calibri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(SP23-BCT-023) JAVARIA MAQBOOL</cp:lastModifiedBy>
  <cp:revision>17</cp:revision>
  <dcterms:created xsi:type="dcterms:W3CDTF">2026-03-31T17:53:44Z</dcterms:created>
  <dcterms:modified xsi:type="dcterms:W3CDTF">2026-04-02T04:04:49Z</dcterms:modified>
</cp:coreProperties>
</file>