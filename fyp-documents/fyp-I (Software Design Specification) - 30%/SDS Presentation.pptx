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66" r:id="rId4"/>
    <p:sldId id="258" r:id="rId5"/>
    <p:sldId id="290" r:id="rId6"/>
    <p:sldId id="259" r:id="rId7"/>
    <p:sldId id="260" r:id="rId8"/>
    <p:sldId id="268" r:id="rId9"/>
    <p:sldId id="269" r:id="rId10"/>
    <p:sldId id="303" r:id="rId11"/>
    <p:sldId id="277" r:id="rId12"/>
    <p:sldId id="271" r:id="rId13"/>
    <p:sldId id="272" r:id="rId14"/>
    <p:sldId id="278" r:id="rId15"/>
    <p:sldId id="279" r:id="rId16"/>
    <p:sldId id="280" r:id="rId17"/>
    <p:sldId id="273" r:id="rId18"/>
    <p:sldId id="282" r:id="rId19"/>
    <p:sldId id="281" r:id="rId20"/>
    <p:sldId id="291" r:id="rId21"/>
    <p:sldId id="293" r:id="rId22"/>
    <p:sldId id="294" r:id="rId23"/>
    <p:sldId id="295" r:id="rId24"/>
    <p:sldId id="262" r:id="rId25"/>
    <p:sldId id="263" r:id="rId26"/>
    <p:sldId id="296" r:id="rId27"/>
    <p:sldId id="297" r:id="rId28"/>
    <p:sldId id="298" r:id="rId29"/>
    <p:sldId id="300" r:id="rId30"/>
    <p:sldId id="264" r:id="rId31"/>
    <p:sldId id="299" r:id="rId32"/>
    <p:sldId id="301" r:id="rId33"/>
    <p:sldId id="302" r:id="rId34"/>
    <p:sldId id="265" r:id="rId35"/>
    <p:sldId id="287" r:id="rId36"/>
  </p:sldIdLst>
  <p:sldSz cx="9144000" cy="5143500" type="screen16x9"/>
  <p:notesSz cx="5143500" cy="9144000"/>
  <p:embeddedFontLst>
    <p:embeddedFont>
      <p:font typeface="Gelasio" panose="020B0604020202020204" charset="0"/>
      <p:regular r:id="rId38"/>
    </p:embeddedFont>
    <p:embeddedFont>
      <p:font typeface="Gelasio Semi Bold" panose="020B0604020202020204" charset="0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99" autoAdjust="0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7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137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A0C33-1867-DF2E-099E-EF3815AB5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2E01B3-A6D7-2F75-22DB-D1677AE4AC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1F9FB1-4A42-4E00-CFC0-783D2D548E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5E0AB7-A5D6-60F0-A084-B84295512C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4880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EC217-A7AC-69A4-641E-B467F56F7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DDC6FE-98AB-A2EF-7FDF-52412DCD52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56C9CC-B432-4E77-DF56-9AD578F87F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F5260-0B0B-689F-3A93-8037D9438A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2084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68B31-3B35-A30B-CB2A-414F72181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1958CA-BBEE-B037-023C-B250C5B57D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B1FAF1-AB62-4B3D-239A-41A1BC878F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59A4A-67F0-5776-D537-5234721A9D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3984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2FBD6-205B-5886-ED99-21A3AD9AB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878CAD-B521-436F-0ADF-32515FB211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74B79B-2DEA-B3AA-5AFA-34988CE770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58491-40E9-8545-6591-BC1647E7D8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8318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C283F-C8DB-5753-516D-0BF426B65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92F307-0B13-5B6B-A3AD-CC6F62371A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48EA94-239E-2238-EE9C-BD155D9029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F656E-9324-FDE0-BC73-7F1695E069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7191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D427D-7207-9B69-0A19-E8EE19E43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D7BCA4-25B8-8602-F7E6-F10B3FCB2E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8AD44F-45BA-4B0F-5DB2-2FE881A3DB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21472-7EF5-06D5-0086-631F9B2CF1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4413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5657C-18D5-DB39-EC90-F9621B535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42C70B-F7DC-07A6-2CBB-ECA3A72E1F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801B1F-90AF-A22D-AD9E-63FA098612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CE72C7-E2F0-B958-7F7C-9ACB8D8BE9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6432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046113"/>
            <a:ext cx="4722763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LatentGuard: Adaptive Dual-Layer Web Application Firewall (WAF)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3030662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    Final Year Project (FYP‑I) — Bachelor of Science in Cyber Security</a:t>
            </a:r>
            <a:endParaRPr lang="en-US" sz="110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    COMSATS University Islamabad — 2024–2025   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64699" y="3590419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	Syed Shaheer Khalid (CIIT/SP23‑BCT‑048/ISB)</a:t>
            </a:r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	Javaria Maqbool         (CIIT/SP23‑BCT‑023/ISB)  </a:t>
            </a:r>
          </a:p>
          <a:p>
            <a:pPr marL="0" indent="0" algn="l">
              <a:lnSpc>
                <a:spcPts val="1750"/>
              </a:lnSpc>
              <a:buNone/>
            </a:pPr>
            <a:endParaRPr lang="en-US" sz="1100" dirty="0">
              <a:solidFill>
                <a:srgbClr val="746558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Supervisor: Dr. Farhana Jabeen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92572"/>
            <a:ext cx="2873201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System Introduction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330449"/>
            <a:ext cx="8151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    LatentGuard is an AI‑augmented Web Application Firewall placed between the internet and web applications to inspect every HTTP/HTTPS request. Designed for security engineers, DevOps teams, and enterprise security evaluators, it combines deterministic rule‑based detection with unsupervised ML to detect known and zero‑day web attacks.   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170361"/>
            <a:ext cx="753740" cy="4658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27038" y="2170361"/>
            <a:ext cx="16682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Rule-based (M3)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427038" y="2476872"/>
            <a:ext cx="1668214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ModSecurity + OWASP CRS for signature detection and immediate blocking of HIGH/CRITICAL matches.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2433" y="2170361"/>
            <a:ext cx="753740" cy="4658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203353" y="2170361"/>
            <a:ext cx="166821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Anomaly Detection (M4)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203353" y="2698328"/>
            <a:ext cx="166821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Autoencoder reconstructs 7‑feature vectors; high reconstruction error flags anomalies.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747" y="2170361"/>
            <a:ext cx="753740" cy="4658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979667" y="2170361"/>
            <a:ext cx="16682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Clustering (M5)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979667" y="2476872"/>
            <a:ext cx="166821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HDBSCAN validates anomalies by finding density‑based outliers in latent space.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96119" y="3997226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Consensus weighting: M4 40% • M5 30% • ModSecurity 30% → Block/Allow/Challenge decisions. Closed‑loop learning produces candidate rules for human review.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674F8-2B9D-513F-40AC-9C3DFEF45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2FAF87B-0BB9-7D21-9BF2-46F0D15C5500}"/>
              </a:ext>
            </a:extLst>
          </p:cNvPr>
          <p:cNvSpPr/>
          <p:nvPr/>
        </p:nvSpPr>
        <p:spPr>
          <a:xfrm>
            <a:off x="445219" y="420588"/>
            <a:ext cx="3292748" cy="298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System Modules (Overview)</a:t>
            </a:r>
            <a:endParaRPr lang="en-US" sz="18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28BF701-08D3-D883-F75A-C8538F0F7483}"/>
              </a:ext>
            </a:extLst>
          </p:cNvPr>
          <p:cNvSpPr/>
          <p:nvPr/>
        </p:nvSpPr>
        <p:spPr>
          <a:xfrm>
            <a:off x="445219" y="866031"/>
            <a:ext cx="4449510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    Ten modules (M1–M10) cover ingress, normalization, detection, consensus, logging and continuous learning. Each module is independently deployable and communicates over well‑defined APIs.   </a:t>
            </a:r>
            <a:endParaRPr lang="en-US" sz="9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E1E13850-7CBC-4F72-D14D-759C10412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1252" y="72845"/>
            <a:ext cx="3292748" cy="4997810"/>
          </a:xfrm>
          <a:prstGeom prst="rect">
            <a:avLst/>
          </a:prstGeom>
        </p:spPr>
      </p:pic>
      <p:sp>
        <p:nvSpPr>
          <p:cNvPr id="37" name="Text 1">
            <a:extLst>
              <a:ext uri="{FF2B5EF4-FFF2-40B4-BE49-F238E27FC236}">
                <a16:creationId xmlns:a16="http://schemas.microsoft.com/office/drawing/2014/main" id="{BB0B6E49-8082-22E0-330C-ECA18D9FF4E5}"/>
              </a:ext>
            </a:extLst>
          </p:cNvPr>
          <p:cNvSpPr/>
          <p:nvPr/>
        </p:nvSpPr>
        <p:spPr>
          <a:xfrm>
            <a:off x="507971" y="1995584"/>
            <a:ext cx="4637769" cy="2441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    Ten modules (M1–M10) cover ingress, normalization, detection, consensus, logging and continuous learning. Each module is independently deployable and communicates over well‑defined APIs.   Three main parts:</a:t>
            </a:r>
          </a:p>
          <a:p>
            <a:pPr marL="228600" indent="-228600" algn="l">
              <a:lnSpc>
                <a:spcPts val="1350"/>
              </a:lnSpc>
              <a:buAutoNum type="arabicPeriod"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Traffic Interception, Normalization and Rule-based filtering (M1 – M2 – M3)</a:t>
            </a:r>
          </a:p>
          <a:p>
            <a:pPr marL="228600" indent="-228600" algn="l">
              <a:lnSpc>
                <a:spcPts val="1350"/>
              </a:lnSpc>
              <a:buAutoNum type="arabicPeriod"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Autoencoder + HDBSCAN clustering analyzes nature of request using Reconstruction Error and representing it in a latent space. Following a consensus that decides what to do with the request</a:t>
            </a:r>
          </a:p>
          <a:p>
            <a:pPr marL="228600" indent="-228600" algn="l">
              <a:lnSpc>
                <a:spcPts val="1350"/>
              </a:lnSpc>
              <a:buAutoNum type="arabicPeriod"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Logging + AI rule generation.</a:t>
            </a:r>
          </a:p>
        </p:txBody>
      </p:sp>
    </p:spTree>
    <p:extLst>
      <p:ext uri="{BB962C8B-B14F-4D97-AF65-F5344CB8AC3E}">
        <p14:creationId xmlns:p14="http://schemas.microsoft.com/office/powerpoint/2010/main" val="3564214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219" y="365224"/>
            <a:ext cx="3292748" cy="298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System Modules (Overview)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445219" y="866031"/>
            <a:ext cx="8253487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    Ten modules (M1–M10) cover ingress, normalization, detection, consensus, logging and continuous learning. Each module is independently deployable and communicates over well‑defined APIs.   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45219" y="1332235"/>
            <a:ext cx="1987674" cy="1202457"/>
          </a:xfrm>
          <a:prstGeom prst="roundRect">
            <a:avLst>
              <a:gd name="adj" fmla="val 1492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4803" y="1451818"/>
            <a:ext cx="1748507" cy="373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M1 — Reverse Proxy (Nginx)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4803" y="1886024"/>
            <a:ext cx="1748507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TLS termination, ingress filtering, request routing.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33799" y="1332235"/>
            <a:ext cx="1987674" cy="1202457"/>
          </a:xfrm>
          <a:prstGeom prst="roundRect">
            <a:avLst>
              <a:gd name="adj" fmla="val 1492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53382" y="1451818"/>
            <a:ext cx="1748507" cy="373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M2 — Normalization &amp; Feature Extraction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53382" y="1886024"/>
            <a:ext cx="1748507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Parses/decodes requests and emits a 7‑float ML feature vector.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22378" y="1332235"/>
            <a:ext cx="1987674" cy="1202457"/>
          </a:xfrm>
          <a:prstGeom prst="roundRect">
            <a:avLst>
              <a:gd name="adj" fmla="val 1492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41962" y="1451818"/>
            <a:ext cx="1748507" cy="373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M3 — Rule Engine (ModSecurity + CRS)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41962" y="1886024"/>
            <a:ext cx="1748507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Signature matches produce immediate BLOCK decisions for high severity.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10958" y="1332235"/>
            <a:ext cx="1987748" cy="1202457"/>
          </a:xfrm>
          <a:prstGeom prst="roundRect">
            <a:avLst>
              <a:gd name="adj" fmla="val 1492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30541" y="1451818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M4 — Autoencoder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30541" y="1699171"/>
            <a:ext cx="1748582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Reconstruction error yields anomaly score (0–1).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5219" y="2635597"/>
            <a:ext cx="1987674" cy="1202457"/>
          </a:xfrm>
          <a:prstGeom prst="roundRect">
            <a:avLst>
              <a:gd name="adj" fmla="val 1492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4803" y="2755181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M5 — HDBSCAN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4803" y="3002533"/>
            <a:ext cx="1748507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Latent clustering to confirm outliers and reduce false positives.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33799" y="2635597"/>
            <a:ext cx="1987674" cy="1202457"/>
          </a:xfrm>
          <a:prstGeom prst="roundRect">
            <a:avLst>
              <a:gd name="adj" fmla="val 1492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653382" y="2755181"/>
            <a:ext cx="1748507" cy="373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M6 — Consensus Engine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653382" y="3189387"/>
            <a:ext cx="1748507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Weighted aggregation of scores → final verdict, with configurable thresholds.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22378" y="2635597"/>
            <a:ext cx="1987674" cy="1202457"/>
          </a:xfrm>
          <a:prstGeom prst="roundRect">
            <a:avLst>
              <a:gd name="adj" fmla="val 1492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41962" y="2755181"/>
            <a:ext cx="172677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M7 — MongoDB Logger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41962" y="3002533"/>
            <a:ext cx="1748507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Persistent audit trail for every request and model training data.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10958" y="2635597"/>
            <a:ext cx="1987748" cy="1202457"/>
          </a:xfrm>
          <a:prstGeom prst="roundRect">
            <a:avLst>
              <a:gd name="adj" fmla="val 1492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30541" y="2755181"/>
            <a:ext cx="1496839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M8 — Pattern Miner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830541" y="3002533"/>
            <a:ext cx="1748582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FP‑Growth on blocked requests to find repeating attack patterns.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45219" y="3938960"/>
            <a:ext cx="4076254" cy="839242"/>
          </a:xfrm>
          <a:prstGeom prst="roundRect">
            <a:avLst>
              <a:gd name="adj" fmla="val 2138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64803" y="4058543"/>
            <a:ext cx="197011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M9 — LLM Rule Generator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64803" y="4305895"/>
            <a:ext cx="3837087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LLM drafts ModSecurity rules from mined patterns; admin approval required.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22378" y="3938960"/>
            <a:ext cx="4076328" cy="839242"/>
          </a:xfrm>
          <a:prstGeom prst="roundRect">
            <a:avLst>
              <a:gd name="adj" fmla="val 2138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41962" y="4058543"/>
            <a:ext cx="187739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M10 — Admin Dashboard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741962" y="4305895"/>
            <a:ext cx="383716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React UI: real‑time monitoring, rule review, and deployment controls.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3F635-29E3-CBCA-B5A9-E046FE541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0B3B31-2A6B-5F0A-C4A8-02E5DA1891D5}"/>
              </a:ext>
            </a:extLst>
          </p:cNvPr>
          <p:cNvSpPr txBox="1"/>
          <p:nvPr/>
        </p:nvSpPr>
        <p:spPr>
          <a:xfrm>
            <a:off x="258553" y="435127"/>
            <a:ext cx="61926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cs typeface="Gelasio Semi Bold" pitchFamily="34" charset="-120"/>
              </a:rPr>
              <a:t>Modules We are Covering in FYP 1</a:t>
            </a:r>
            <a:endParaRPr lang="en-PK" sz="2200" dirty="0">
              <a:solidFill>
                <a:srgbClr val="484237"/>
              </a:solidFill>
              <a:latin typeface="Gelasio Semi Bold" pitchFamily="34" charset="0"/>
              <a:cs typeface="Gelasio Semi Bold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3A9346-A87A-0607-5460-B73888F65E30}"/>
              </a:ext>
            </a:extLst>
          </p:cNvPr>
          <p:cNvSpPr txBox="1"/>
          <p:nvPr/>
        </p:nvSpPr>
        <p:spPr>
          <a:xfrm>
            <a:off x="1379220" y="1798320"/>
            <a:ext cx="5882640" cy="2049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4019D4-E584-ECD7-9367-5C00D7E4E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832" y="998220"/>
            <a:ext cx="5688147" cy="384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078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649635"/>
            <a:ext cx="2860328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Design Methodology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96044" y="1216596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Procedural Design selected to show how data moves through the system, including requests, features, anomaly scores, and generated rules.  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96044" y="2201110"/>
            <a:ext cx="3429000" cy="818539"/>
          </a:xfrm>
          <a:prstGeom prst="roundRect">
            <a:avLst>
              <a:gd name="adj" fmla="val 1437"/>
            </a:avLst>
          </a:prstGeom>
          <a:solidFill>
            <a:srgbClr val="F9F6F0"/>
          </a:solidFill>
          <a:ln w="19050">
            <a:solidFill>
              <a:srgbClr val="D4CEC3"/>
            </a:solidFill>
            <a:prstDash val="solid"/>
          </a:ln>
        </p:spPr>
        <p:txBody>
          <a:bodyPr/>
          <a:lstStyle/>
          <a:p>
            <a:r>
              <a:rPr lang="en-US" sz="110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In </a:t>
            </a:r>
            <a:r>
              <a:rPr lang="en-US" sz="1100" dirty="0" err="1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LatentGuard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, you'll see a layered architecture — sometimes known as a pipeline. A request enters at one end, passes through stages in order, and exits the other end with a decision attached.</a:t>
            </a:r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F620B32C-71FC-99D2-4981-D779A3734F10}"/>
              </a:ext>
            </a:extLst>
          </p:cNvPr>
          <p:cNvSpPr/>
          <p:nvPr/>
        </p:nvSpPr>
        <p:spPr>
          <a:xfrm>
            <a:off x="4123163" y="2831771"/>
            <a:ext cx="4722764" cy="1738293"/>
          </a:xfrm>
          <a:prstGeom prst="roundRect">
            <a:avLst>
              <a:gd name="adj" fmla="val 1437"/>
            </a:avLst>
          </a:prstGeom>
          <a:solidFill>
            <a:srgbClr val="F9F6F0"/>
          </a:solidFill>
          <a:ln w="19050">
            <a:solidFill>
              <a:srgbClr val="D4CEC3"/>
            </a:solidFill>
            <a:prstDash val="solid"/>
          </a:ln>
        </p:spPr>
        <p:txBody>
          <a:bodyPr/>
          <a:lstStyle/>
          <a:p>
            <a:r>
              <a:rPr lang="en-US" sz="110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Purpose of choosing a procedural design methodology:</a:t>
            </a:r>
          </a:p>
          <a:p>
            <a:pPr marL="228600" indent="-228600">
              <a:buAutoNum type="arabicPeriod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Sequential.</a:t>
            </a:r>
          </a:p>
          <a:p>
            <a:pPr marL="228600" indent="-228600">
              <a:buAutoNum type="arabicPeriod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Separation Of concerns: Each Layer handles a designated task.</a:t>
            </a:r>
          </a:p>
          <a:p>
            <a:pPr marL="228600" indent="-228600">
              <a:buAutoNum type="arabicPeriod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Independent Scaling: If traffic surges, the relevant layer can scale independently</a:t>
            </a:r>
          </a:p>
          <a:p>
            <a:pPr marL="228600" indent="-228600">
              <a:buAutoNum type="arabicPeriod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Fault tolerance: If AI layer crashes, system chooses rules layer as the fall back.</a:t>
            </a:r>
          </a:p>
          <a:p>
            <a:pPr marL="228600" indent="-228600">
              <a:buAutoNum type="arabicPeriod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Testability: Each layer can be tested individually in unit and integration tests.</a:t>
            </a:r>
          </a:p>
          <a:p>
            <a:endParaRPr lang="en-US" sz="1000" dirty="0">
              <a:latin typeface="Gelasio" panose="020B0604020202020204" charset="0"/>
              <a:cs typeface="Gelasio" panose="020B06040202020202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035189" y="661466"/>
            <a:ext cx="4877693" cy="597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Architecture — Conceptual &amp; Mechanisms</a:t>
            </a:r>
            <a:endParaRPr lang="en-US" sz="1850" dirty="0"/>
          </a:p>
        </p:txBody>
      </p:sp>
      <p:sp>
        <p:nvSpPr>
          <p:cNvPr id="4" name="Text 1"/>
          <p:cNvSpPr/>
          <p:nvPr/>
        </p:nvSpPr>
        <p:spPr>
          <a:xfrm>
            <a:off x="4410636" y="1259457"/>
            <a:ext cx="3804073" cy="93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    Layered 6‑tier pipeline enforces processing order and fault tolerance. If AI components are unavailable, system gracefully degrades to ModSecurity‑only operation while logging inputs for offline ML training.   </a:t>
            </a:r>
            <a:endParaRPr lang="en-US" sz="10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D5BA6D0-D04F-03BD-792F-1C951EA9FE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047"/>
            <a:ext cx="3933710" cy="50104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ACC89-6DD7-965E-502B-389742B18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26AA0D3-3E27-748E-CF0A-463CD2E925D7}"/>
              </a:ext>
            </a:extLst>
          </p:cNvPr>
          <p:cNvSpPr/>
          <p:nvPr/>
        </p:nvSpPr>
        <p:spPr>
          <a:xfrm>
            <a:off x="387623" y="336649"/>
            <a:ext cx="3577754" cy="276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Use case diagram</a:t>
            </a:r>
            <a:endParaRPr lang="en-US" sz="17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559CCB9-2A4F-36DF-6B32-C536EE960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6789" y="38557"/>
            <a:ext cx="4017739" cy="506638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91D84CD-C7EE-E2CB-BADF-B36D69DA3BE9}"/>
              </a:ext>
            </a:extLst>
          </p:cNvPr>
          <p:cNvSpPr txBox="1"/>
          <p:nvPr/>
        </p:nvSpPr>
        <p:spPr>
          <a:xfrm>
            <a:off x="244978" y="794558"/>
            <a:ext cx="4327022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Actors:</a:t>
            </a:r>
          </a:p>
          <a:p>
            <a:endParaRPr lang="en-US" sz="1100" dirty="0">
              <a:solidFill>
                <a:srgbClr val="746558"/>
              </a:solidFill>
              <a:latin typeface="Gelasio" pitchFamily="34" charset="0"/>
              <a:cs typeface="Gelasio" pitchFamily="34" charset="-120"/>
            </a:endParaRPr>
          </a:p>
          <a:p>
            <a:r>
              <a:rPr lang="en-US" sz="110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🔵 Web Client — initiates HTTP/S requests to the protected application</a:t>
            </a:r>
          </a:p>
          <a:p>
            <a:endParaRPr lang="en-US" sz="1100" dirty="0">
              <a:solidFill>
                <a:srgbClr val="746558"/>
              </a:solidFill>
              <a:latin typeface="Gelasio" pitchFamily="34" charset="0"/>
              <a:cs typeface="Gelasio" pitchFamily="34" charset="-120"/>
            </a:endParaRPr>
          </a:p>
          <a:p>
            <a:r>
              <a:rPr lang="en-US" sz="110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🔵 Security Admin — reviews AI-generated rules, monitors decisions &amp; explainability logs</a:t>
            </a:r>
          </a:p>
          <a:p>
            <a:endParaRPr lang="en-US" sz="1100" dirty="0">
              <a:solidFill>
                <a:srgbClr val="746558"/>
              </a:solidFill>
              <a:latin typeface="Gelasio" pitchFamily="34" charset="0"/>
              <a:cs typeface="Gelasio" pitchFamily="34" charset="-120"/>
            </a:endParaRPr>
          </a:p>
          <a:p>
            <a:r>
              <a:rPr lang="en-US" sz="110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🔵 Auditor / ML Engineer — monitors dashboard, fine-tunes anomaly detection model</a:t>
            </a:r>
          </a:p>
          <a:p>
            <a:endParaRPr lang="en-US" sz="1100" dirty="0">
              <a:solidFill>
                <a:srgbClr val="746558"/>
              </a:solidFill>
              <a:latin typeface="Gelasio" pitchFamily="34" charset="0"/>
              <a:cs typeface="Gelasio" pitchFamily="34" charset="-120"/>
            </a:endParaRPr>
          </a:p>
          <a:p>
            <a:r>
              <a:rPr lang="en-US" sz="110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🔵 Threat Intel Feed / LLM Service — external actors feeding intelligence into the system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E6DDD4-0D5B-58F2-550E-D57AA3ACDBF2}"/>
              </a:ext>
            </a:extLst>
          </p:cNvPr>
          <p:cNvSpPr txBox="1"/>
          <p:nvPr/>
        </p:nvSpPr>
        <p:spPr>
          <a:xfrm>
            <a:off x="244978" y="3268507"/>
            <a:ext cx="432702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Key Use Cases:</a:t>
            </a:r>
          </a:p>
          <a:p>
            <a:endParaRPr lang="en-US" sz="1100" dirty="0">
              <a:solidFill>
                <a:srgbClr val="746558"/>
              </a:solidFill>
              <a:latin typeface="Gelasio" pitchFamily="34" charset="0"/>
              <a:cs typeface="Gelasio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Traffic interception → normalization → dual-layer detection (autoencoder + HDBSCAN)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Consensus engine makes final allow/block decision with full explainability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Attack patterns mined → LLM generates rules → human approval before deployment</a:t>
            </a:r>
          </a:p>
        </p:txBody>
      </p:sp>
    </p:spTree>
    <p:extLst>
      <p:ext uri="{BB962C8B-B14F-4D97-AF65-F5344CB8AC3E}">
        <p14:creationId xmlns:p14="http://schemas.microsoft.com/office/powerpoint/2010/main" val="3506991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C3B81-8DEE-E906-0CD5-FC4F9AFB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9CD2BF2-C54D-FB76-D265-E7B8D63BD5A6}"/>
              </a:ext>
            </a:extLst>
          </p:cNvPr>
          <p:cNvSpPr/>
          <p:nvPr/>
        </p:nvSpPr>
        <p:spPr>
          <a:xfrm>
            <a:off x="387623" y="336649"/>
            <a:ext cx="2499012" cy="276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Activity Diagram</a:t>
            </a:r>
            <a:endParaRPr lang="en-US" sz="17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BA6BB2-A059-55F5-822C-508F1D6039D8}"/>
              </a:ext>
            </a:extLst>
          </p:cNvPr>
          <p:cNvSpPr txBox="1"/>
          <p:nvPr/>
        </p:nvSpPr>
        <p:spPr>
          <a:xfrm>
            <a:off x="351763" y="1060918"/>
            <a:ext cx="4076801" cy="3144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Incoming HTTP requests are preprocessed and analyzed</a:t>
            </a:r>
          </a:p>
          <a:p>
            <a:pPr marL="171450" indent="-171450">
              <a:lnSpc>
                <a:spcPts val="1350"/>
              </a:lnSpc>
              <a:buFont typeface="Arial" panose="020B0604020202020204" pitchFamily="34" charset="0"/>
              <a:buChar char="•"/>
            </a:pPr>
            <a:endParaRPr lang="en-US" sz="1050" dirty="0">
              <a:solidFill>
                <a:srgbClr val="746558"/>
              </a:solidFill>
              <a:latin typeface="Gelasio" pitchFamily="34" charset="0"/>
              <a:cs typeface="Gelasio" pitchFamily="34" charset="-120"/>
            </a:endParaRPr>
          </a:p>
          <a:p>
            <a:pPr marL="171450" indent="-1714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en-US" sz="1050" dirty="0" err="1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ModSecurity</a:t>
            </a:r>
            <a:r>
              <a:rPr lang="en-US" sz="105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 + OWASP CRS detect known web attacks</a:t>
            </a:r>
          </a:p>
          <a:p>
            <a:pPr marL="171450" indent="-171450">
              <a:lnSpc>
                <a:spcPts val="1350"/>
              </a:lnSpc>
              <a:buFont typeface="Arial" panose="020B0604020202020204" pitchFamily="34" charset="0"/>
              <a:buChar char="•"/>
            </a:pPr>
            <a:endParaRPr lang="en-US" sz="1050" dirty="0">
              <a:solidFill>
                <a:srgbClr val="746558"/>
              </a:solidFill>
              <a:latin typeface="Gelasio" pitchFamily="34" charset="0"/>
              <a:cs typeface="Gelasio" pitchFamily="34" charset="-120"/>
            </a:endParaRPr>
          </a:p>
          <a:p>
            <a:pPr marL="171450" indent="-1714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Requests are classified into high, medium, or low risk</a:t>
            </a:r>
          </a:p>
          <a:p>
            <a:pPr marL="171450" indent="-171450">
              <a:lnSpc>
                <a:spcPts val="1350"/>
              </a:lnSpc>
              <a:buFont typeface="Arial" panose="020B0604020202020204" pitchFamily="34" charset="0"/>
              <a:buChar char="•"/>
            </a:pPr>
            <a:endParaRPr lang="en-US" sz="1050" dirty="0">
              <a:solidFill>
                <a:srgbClr val="746558"/>
              </a:solidFill>
              <a:latin typeface="Gelasio" pitchFamily="34" charset="0"/>
              <a:cs typeface="Gelasio" pitchFamily="34" charset="-120"/>
            </a:endParaRPr>
          </a:p>
          <a:p>
            <a:pPr marL="171450" indent="-1714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High-risk requests are blocked immediately</a:t>
            </a:r>
          </a:p>
          <a:p>
            <a:pPr marL="171450" indent="-171450">
              <a:lnSpc>
                <a:spcPts val="1350"/>
              </a:lnSpc>
              <a:buFont typeface="Arial" panose="020B0604020202020204" pitchFamily="34" charset="0"/>
              <a:buChar char="•"/>
            </a:pPr>
            <a:endParaRPr lang="en-US" sz="1050" dirty="0">
              <a:solidFill>
                <a:srgbClr val="746558"/>
              </a:solidFill>
              <a:latin typeface="Gelasio" pitchFamily="34" charset="0"/>
              <a:cs typeface="Gelasio" pitchFamily="34" charset="-120"/>
            </a:endParaRPr>
          </a:p>
          <a:p>
            <a:pPr marL="171450" indent="-1714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Low-risk requests are forwarded to the backend</a:t>
            </a:r>
          </a:p>
          <a:p>
            <a:pPr marL="171450" indent="-171450">
              <a:lnSpc>
                <a:spcPts val="1350"/>
              </a:lnSpc>
              <a:buFont typeface="Arial" panose="020B0604020202020204" pitchFamily="34" charset="0"/>
              <a:buChar char="•"/>
            </a:pPr>
            <a:endParaRPr lang="en-US" sz="1050" dirty="0">
              <a:solidFill>
                <a:srgbClr val="746558"/>
              </a:solidFill>
              <a:latin typeface="Gelasio" pitchFamily="34" charset="0"/>
              <a:cs typeface="Gelasio" pitchFamily="34" charset="-120"/>
            </a:endParaRPr>
          </a:p>
          <a:p>
            <a:pPr marL="171450" indent="-1714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Medium-risk requests are analyzed by AI models</a:t>
            </a:r>
          </a:p>
          <a:p>
            <a:pPr marL="171450" indent="-171450">
              <a:lnSpc>
                <a:spcPts val="1350"/>
              </a:lnSpc>
              <a:buFont typeface="Arial" panose="020B0604020202020204" pitchFamily="34" charset="0"/>
              <a:buChar char="•"/>
            </a:pPr>
            <a:endParaRPr lang="en-US" sz="1050" dirty="0">
              <a:solidFill>
                <a:srgbClr val="746558"/>
              </a:solidFill>
              <a:latin typeface="Gelasio" pitchFamily="34" charset="0"/>
              <a:cs typeface="Gelasio" pitchFamily="34" charset="-120"/>
            </a:endParaRPr>
          </a:p>
          <a:p>
            <a:pPr marL="171450" indent="-1714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Autoencoder and HDBSCAN generate anomaly score.</a:t>
            </a:r>
          </a:p>
          <a:p>
            <a:pPr marL="171450" indent="-171450">
              <a:lnSpc>
                <a:spcPts val="1350"/>
              </a:lnSpc>
              <a:buFont typeface="Arial" panose="020B0604020202020204" pitchFamily="34" charset="0"/>
              <a:buChar char="•"/>
            </a:pPr>
            <a:endParaRPr lang="en-US" sz="1050" dirty="0">
              <a:solidFill>
                <a:srgbClr val="746558"/>
              </a:solidFill>
              <a:latin typeface="Gelasio" pitchFamily="34" charset="0"/>
              <a:cs typeface="Gelasio" pitchFamily="34" charset="-120"/>
            </a:endParaRPr>
          </a:p>
          <a:p>
            <a:pPr marL="171450" indent="-1714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A consensus score determines the final decision</a:t>
            </a:r>
          </a:p>
          <a:p>
            <a:pPr marL="171450" indent="-171450">
              <a:lnSpc>
                <a:spcPts val="1350"/>
              </a:lnSpc>
              <a:buFont typeface="Arial" panose="020B0604020202020204" pitchFamily="34" charset="0"/>
              <a:buChar char="•"/>
            </a:pPr>
            <a:endParaRPr lang="en-US" sz="1050" dirty="0">
              <a:solidFill>
                <a:srgbClr val="746558"/>
              </a:solidFill>
              <a:latin typeface="Gelasio" pitchFamily="34" charset="0"/>
              <a:cs typeface="Gelasio" pitchFamily="34" charset="-120"/>
            </a:endParaRPr>
          </a:p>
          <a:p>
            <a:pPr marL="171450" indent="-1714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All requests and actions are logged into MongoDB</a:t>
            </a:r>
          </a:p>
        </p:txBody>
      </p:sp>
    </p:spTree>
    <p:extLst>
      <p:ext uri="{BB962C8B-B14F-4D97-AF65-F5344CB8AC3E}">
        <p14:creationId xmlns:p14="http://schemas.microsoft.com/office/powerpoint/2010/main" val="4122117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554F801-DE51-6234-F10B-BAD630C28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735" y="-15240"/>
            <a:ext cx="509052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214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9A38E9-E039-A412-D20F-AEB0DAE7B667}"/>
              </a:ext>
            </a:extLst>
          </p:cNvPr>
          <p:cNvSpPr txBox="1"/>
          <p:nvPr/>
        </p:nvSpPr>
        <p:spPr>
          <a:xfrm>
            <a:off x="163286" y="987554"/>
            <a:ext cx="7500256" cy="3822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arenR"/>
            </a:pPr>
            <a:r>
              <a:rPr lang="en-US" sz="1400" b="1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Data Diagrams</a:t>
            </a:r>
            <a:endParaRPr lang="en-PK" sz="1400" b="1" dirty="0">
              <a:solidFill>
                <a:srgbClr val="746558"/>
              </a:solidFill>
              <a:latin typeface="Gelasio" pitchFamily="34" charset="0"/>
              <a:cs typeface="Gelasio" pitchFamily="34" charset="-12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Purpose: To show how data moves through the system, including requests, features, anomaly scores, and generated rules.</a:t>
            </a:r>
          </a:p>
          <a:p>
            <a:pPr>
              <a:buNone/>
            </a:pPr>
            <a:endParaRPr lang="en-US" sz="1400" dirty="0">
              <a:solidFill>
                <a:srgbClr val="746558"/>
              </a:solidFill>
              <a:latin typeface="Gelasio" pitchFamily="34" charset="0"/>
              <a:cs typeface="Gelasio" pitchFamily="34" charset="-120"/>
            </a:endParaRPr>
          </a:p>
          <a:p>
            <a:pPr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Level 0: Context Diagram</a:t>
            </a:r>
            <a:endParaRPr lang="en-PK" sz="1400" dirty="0">
              <a:solidFill>
                <a:srgbClr val="746558"/>
              </a:solidFill>
              <a:latin typeface="Gelasio" pitchFamily="34" charset="0"/>
              <a:cs typeface="Gelasio" pitchFamily="34" charset="-12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This is the simplest view — one circle for the system, surrounded by external entities that send data in or receive data out.</a:t>
            </a:r>
            <a:endParaRPr lang="en-PK" sz="1400" dirty="0">
              <a:solidFill>
                <a:srgbClr val="746558"/>
              </a:solidFill>
              <a:latin typeface="Gelasio" pitchFamily="34" charset="0"/>
              <a:cs typeface="Gelasio" pitchFamily="34" charset="-12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n-US" sz="1400" dirty="0">
              <a:solidFill>
                <a:srgbClr val="746558"/>
              </a:solidFill>
              <a:latin typeface="Gelasio" pitchFamily="34" charset="0"/>
              <a:cs typeface="Gelasio" pitchFamily="34" charset="-12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External entities:</a:t>
            </a:r>
            <a:endParaRPr lang="en-PK" sz="1400" dirty="0">
              <a:solidFill>
                <a:srgbClr val="746558"/>
              </a:solidFill>
              <a:latin typeface="Gelasio" pitchFamily="34" charset="0"/>
              <a:cs typeface="Gelasio" pitchFamily="34" charset="-12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Client — sends HTTP requests, receives block/allow responses</a:t>
            </a:r>
            <a:endParaRPr lang="en-PK" sz="1400" dirty="0">
              <a:solidFill>
                <a:srgbClr val="746558"/>
              </a:solidFill>
              <a:latin typeface="Gelasio" pitchFamily="34" charset="0"/>
              <a:cs typeface="Gelasio" pitchFamily="34" charset="-12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Admin — views dashboard, approves/rejects rules</a:t>
            </a:r>
            <a:endParaRPr lang="en-PK" sz="1400" dirty="0">
              <a:solidFill>
                <a:srgbClr val="746558"/>
              </a:solidFill>
              <a:latin typeface="Gelasio" pitchFamily="34" charset="0"/>
              <a:cs typeface="Gelasio" pitchFamily="34" charset="-12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Backend Application — receives allowed requests</a:t>
            </a:r>
            <a:endParaRPr lang="en-PK" sz="1400" dirty="0">
              <a:solidFill>
                <a:srgbClr val="746558"/>
              </a:solidFill>
              <a:latin typeface="Gelasio" pitchFamily="34" charset="0"/>
              <a:cs typeface="Gelasio" pitchFamily="34" charset="-12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LLM Service (OpenAI/Llama) — receives attack patterns, returns rules</a:t>
            </a:r>
            <a:endParaRPr lang="en-PK" sz="1400" dirty="0">
              <a:solidFill>
                <a:srgbClr val="746558"/>
              </a:solidFill>
              <a:latin typeface="Gelasio" pitchFamily="34" charset="0"/>
              <a:cs typeface="Gelasio" pitchFamily="34" charset="-12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7F30FF-D7CA-D955-B5F1-408197F7B180}"/>
              </a:ext>
            </a:extLst>
          </p:cNvPr>
          <p:cNvSpPr txBox="1"/>
          <p:nvPr/>
        </p:nvSpPr>
        <p:spPr>
          <a:xfrm>
            <a:off x="163286" y="182260"/>
            <a:ext cx="7500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84237"/>
                </a:solidFill>
                <a:latin typeface="Gelasio Semi Bold" pitchFamily="34" charset="0"/>
                <a:cs typeface="Gelasio Semi Bold" pitchFamily="34" charset="-120"/>
              </a:rPr>
              <a:t>Design Models for Procedural Approach </a:t>
            </a:r>
            <a:endParaRPr lang="en-PK" sz="2400" dirty="0">
              <a:solidFill>
                <a:srgbClr val="484237"/>
              </a:solidFill>
              <a:latin typeface="Gelasio Semi Bold" pitchFamily="34" charset="0"/>
              <a:cs typeface="Gelasio Semi Bold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66199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BA15A-7CE0-9444-91C0-53160ECB7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C9D3A1-4CBE-FF59-0BCC-AD2B0D8EC8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48" y="1392137"/>
            <a:ext cx="8719504" cy="30831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7F59B6-F98D-3E6F-5679-5FA1F8362121}"/>
              </a:ext>
            </a:extLst>
          </p:cNvPr>
          <p:cNvSpPr txBox="1"/>
          <p:nvPr/>
        </p:nvSpPr>
        <p:spPr>
          <a:xfrm>
            <a:off x="3733800" y="359072"/>
            <a:ext cx="34943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484237"/>
                </a:solidFill>
                <a:latin typeface="Gelasio Semi Bold" pitchFamily="34" charset="0"/>
                <a:cs typeface="Gelasio Semi Bold" pitchFamily="34" charset="-120"/>
              </a:rPr>
              <a:t>Level 0</a:t>
            </a:r>
            <a:endParaRPr lang="en-PK" sz="2800" dirty="0">
              <a:solidFill>
                <a:srgbClr val="484237"/>
              </a:solidFill>
              <a:latin typeface="Gelasio Semi Bold" pitchFamily="34" charset="0"/>
              <a:cs typeface="Gelasio Semi Bold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40587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1590A-5E86-8E3A-38D5-5CD74F469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C8BF667-6610-1A55-46A6-D233061F3A50}"/>
              </a:ext>
            </a:extLst>
          </p:cNvPr>
          <p:cNvSpPr/>
          <p:nvPr/>
        </p:nvSpPr>
        <p:spPr>
          <a:xfrm>
            <a:off x="217714" y="493801"/>
            <a:ext cx="2740222" cy="811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DATA Diagram Level 1</a:t>
            </a:r>
            <a:endParaRPr lang="en-US" sz="17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155E04-4CF8-17B1-65DA-10A8A570355D}"/>
              </a:ext>
            </a:extLst>
          </p:cNvPr>
          <p:cNvSpPr txBox="1"/>
          <p:nvPr/>
        </p:nvSpPr>
        <p:spPr>
          <a:xfrm>
            <a:off x="145868" y="1001486"/>
            <a:ext cx="7010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Processes </a:t>
            </a:r>
          </a:p>
          <a:p>
            <a:r>
              <a:rPr lang="en-US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1.0 Process Request – Normalizes request, extracts features</a:t>
            </a:r>
          </a:p>
          <a:p>
            <a:r>
              <a:rPr lang="en-US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2.0 Detect Anomalies – Runs M4 and M5, produces scores</a:t>
            </a:r>
          </a:p>
          <a:p>
            <a:r>
              <a:rPr lang="en-US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3.0 Make Decision – Consensus engine, block/allow</a:t>
            </a:r>
          </a:p>
          <a:p>
            <a:r>
              <a:rPr lang="en-US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4.0 Log Data – Stores everything to MongoDB</a:t>
            </a:r>
          </a:p>
          <a:p>
            <a:r>
              <a:rPr lang="en-US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5.0 Generate Rules – M8-M10 pipeline for continuous learning</a:t>
            </a:r>
          </a:p>
          <a:p>
            <a:r>
              <a:rPr lang="en-US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Data Stores</a:t>
            </a:r>
          </a:p>
          <a:p>
            <a:r>
              <a:rPr lang="en-US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D1: Rule Definitions (</a:t>
            </a:r>
            <a:r>
              <a:rPr lang="en-US" dirty="0" err="1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ModSecurity</a:t>
            </a:r>
            <a:r>
              <a:rPr lang="en-US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 rules)</a:t>
            </a:r>
          </a:p>
          <a:p>
            <a:r>
              <a:rPr lang="en-US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D2: Request Logs (MongoDB)</a:t>
            </a:r>
          </a:p>
          <a:p>
            <a:r>
              <a:rPr lang="en-US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D3: Training Dataset (benign traffic)</a:t>
            </a:r>
          </a:p>
          <a:p>
            <a:r>
              <a:rPr lang="en-US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Note: External entities from Level 0 are also shown here.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805814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45B76D8-39ED-5D6A-8B73-A96DD604AE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129" y="108856"/>
            <a:ext cx="6888283" cy="5034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449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91344-6975-57B7-1693-B329890F4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452358D1-FC44-5AAE-310B-229B1361C149}"/>
              </a:ext>
            </a:extLst>
          </p:cNvPr>
          <p:cNvSpPr/>
          <p:nvPr/>
        </p:nvSpPr>
        <p:spPr>
          <a:xfrm>
            <a:off x="217714" y="493801"/>
            <a:ext cx="2740222" cy="811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DATA Diagram Level 2</a:t>
            </a:r>
            <a:endParaRPr lang="en-US" sz="17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B44FBD-EDB8-680F-151E-EB0CBB566734}"/>
              </a:ext>
            </a:extLst>
          </p:cNvPr>
          <p:cNvSpPr txBox="1"/>
          <p:nvPr/>
        </p:nvSpPr>
        <p:spPr>
          <a:xfrm>
            <a:off x="217714" y="1001486"/>
            <a:ext cx="7010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This is a deeper look at the AI detection process — the core of your project. </a:t>
            </a:r>
          </a:p>
          <a:p>
            <a:r>
              <a:rPr lang="en-US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Sub-processes:</a:t>
            </a:r>
            <a:endParaRPr lang="en-PK" dirty="0">
              <a:solidFill>
                <a:srgbClr val="746558"/>
              </a:solidFill>
              <a:latin typeface="Gelasio" pitchFamily="34" charset="0"/>
              <a:cs typeface="Gelasio" pitchFamily="34" charset="-120"/>
            </a:endParaRPr>
          </a:p>
          <a:p>
            <a:pPr lvl="0"/>
            <a:r>
              <a:rPr lang="en-US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2.1: Run Autoencoder (M4) — takes feature vector, outputs reconstruction error</a:t>
            </a:r>
            <a:endParaRPr lang="en-PK" dirty="0">
              <a:solidFill>
                <a:srgbClr val="746558"/>
              </a:solidFill>
              <a:latin typeface="Gelasio" pitchFamily="34" charset="0"/>
              <a:cs typeface="Gelasio" pitchFamily="34" charset="-120"/>
            </a:endParaRPr>
          </a:p>
          <a:p>
            <a:pPr lvl="0"/>
            <a:r>
              <a:rPr lang="en-US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2.2: Run HDBSCAN (M5) — takes latent space, outputs outlier score</a:t>
            </a:r>
            <a:endParaRPr lang="en-PK" dirty="0">
              <a:solidFill>
                <a:srgbClr val="746558"/>
              </a:solidFill>
              <a:latin typeface="Gelasio" pitchFamily="34" charset="0"/>
              <a:cs typeface="Gelasio" pitchFamily="34" charset="-120"/>
            </a:endParaRPr>
          </a:p>
          <a:p>
            <a:pPr lvl="0"/>
            <a:r>
              <a:rPr lang="en-US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2.3: Aggregate Scores — collects both scores for consensus</a:t>
            </a:r>
            <a:endParaRPr lang="en-PK" dirty="0">
              <a:solidFill>
                <a:srgbClr val="746558"/>
              </a:solidFill>
              <a:latin typeface="Gelasio" pitchFamily="34" charset="0"/>
              <a:cs typeface="Gelasio" pitchFamily="34" charset="-120"/>
            </a:endParaRPr>
          </a:p>
          <a:p>
            <a:r>
              <a:rPr lang="en-US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Data flow:</a:t>
            </a:r>
            <a:endParaRPr lang="en-PK" dirty="0">
              <a:solidFill>
                <a:srgbClr val="746558"/>
              </a:solidFill>
              <a:latin typeface="Gelasio" pitchFamily="34" charset="0"/>
              <a:cs typeface="Gelasio" pitchFamily="34" charset="-120"/>
            </a:endParaRPr>
          </a:p>
          <a:p>
            <a:pPr lvl="0"/>
            <a:r>
              <a:rPr lang="en-US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Feature vector → 2.1 → anomaly score</a:t>
            </a:r>
            <a:endParaRPr lang="en-PK" dirty="0">
              <a:solidFill>
                <a:srgbClr val="746558"/>
              </a:solidFill>
              <a:latin typeface="Gelasio" pitchFamily="34" charset="0"/>
              <a:cs typeface="Gelasio" pitchFamily="34" charset="-120"/>
            </a:endParaRPr>
          </a:p>
          <a:p>
            <a:pPr lvl="0"/>
            <a:r>
              <a:rPr lang="en-US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Latent space (from autoencoder) → 2.2 → outlier score</a:t>
            </a:r>
            <a:endParaRPr lang="en-PK" dirty="0">
              <a:solidFill>
                <a:srgbClr val="746558"/>
              </a:solidFill>
              <a:latin typeface="Gelasio" pitchFamily="34" charset="0"/>
              <a:cs typeface="Gelasio" pitchFamily="34" charset="-120"/>
            </a:endParaRPr>
          </a:p>
          <a:p>
            <a:r>
              <a:rPr lang="en-US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Both scores → 2.3 → M4 and M5 scores ready for M6</a:t>
            </a:r>
            <a:endParaRPr lang="en-PK" dirty="0">
              <a:solidFill>
                <a:srgbClr val="746558"/>
              </a:solidFill>
              <a:latin typeface="Gelasio" pitchFamily="34" charset="0"/>
              <a:cs typeface="Gelasio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173654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6B5591-2B60-B3A4-D2B0-D41578859C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37" y="1201748"/>
            <a:ext cx="9022126" cy="323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800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0B83B-FA15-F865-8DD8-C83573A07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C4FD072E-8677-FF01-472A-33CE1AD04406}"/>
              </a:ext>
            </a:extLst>
          </p:cNvPr>
          <p:cNvSpPr/>
          <p:nvPr/>
        </p:nvSpPr>
        <p:spPr>
          <a:xfrm>
            <a:off x="387623" y="336649"/>
            <a:ext cx="2499012" cy="276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2) State Transition Diagram</a:t>
            </a:r>
            <a:endParaRPr lang="en-US" sz="17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8A96E2-3086-FB40-6C62-02096557C77A}"/>
              </a:ext>
            </a:extLst>
          </p:cNvPr>
          <p:cNvSpPr txBox="1"/>
          <p:nvPr/>
        </p:nvSpPr>
        <p:spPr>
          <a:xfrm>
            <a:off x="286871" y="950259"/>
            <a:ext cx="335280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The system combines signature-based detection with unsupervised machine learning techniques to improve detection accuracy.</a:t>
            </a:r>
          </a:p>
          <a:p>
            <a:endParaRPr lang="en-US" sz="1300" dirty="0">
              <a:latin typeface="Gelasio" panose="020B0604020202020204" charset="0"/>
              <a:cs typeface="Gelasio" panose="020B06040202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1A49F8-3316-9679-F1C3-6C70B4B19C98}"/>
              </a:ext>
            </a:extLst>
          </p:cNvPr>
          <p:cNvSpPr txBox="1"/>
          <p:nvPr/>
        </p:nvSpPr>
        <p:spPr>
          <a:xfrm>
            <a:off x="387622" y="2206643"/>
            <a:ext cx="3609545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The State Diagram is helping us visualize: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Trace the flow of requests from input to final decision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Visualize transitions between detection states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Understand how risk levels influence system behavior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Represent decision paths for allowed, challenged, or blocked requests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Simplify analysis of complex multi-stage security workflows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23D6F7-64A1-2281-BDB9-192CAE67CA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2521" y="37471"/>
            <a:ext cx="4931479" cy="506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0967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B7C59D-8899-269D-8C7A-3A0F3F8784A8}"/>
              </a:ext>
            </a:extLst>
          </p:cNvPr>
          <p:cNvSpPr txBox="1"/>
          <p:nvPr/>
        </p:nvSpPr>
        <p:spPr>
          <a:xfrm>
            <a:off x="838200" y="532150"/>
            <a:ext cx="39166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ERD (Entity Relationship Diagram)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054747-4E69-1860-01E2-18AE6E6717C6}"/>
              </a:ext>
            </a:extLst>
          </p:cNvPr>
          <p:cNvSpPr txBox="1"/>
          <p:nvPr/>
        </p:nvSpPr>
        <p:spPr>
          <a:xfrm>
            <a:off x="838200" y="1749028"/>
            <a:ext cx="643128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The Entity Relationship Diagram (ERD) illustrates the data model of </a:t>
            </a:r>
            <a:r>
              <a:rPr lang="en-US" dirty="0" err="1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LatentGuard</a:t>
            </a:r>
            <a:r>
              <a:rPr lang="en-US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. The system stores five main entities: Request (raw HTTP requests), Decision (M4/M5/M3 scores and final verdict), Rule (AI-generated </a:t>
            </a:r>
            <a:r>
              <a:rPr lang="en-US" dirty="0" err="1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ModSecurity</a:t>
            </a:r>
            <a:r>
              <a:rPr lang="en-US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 rules), </a:t>
            </a:r>
            <a:r>
              <a:rPr lang="en-US" dirty="0" err="1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AttackPattern</a:t>
            </a:r>
            <a:r>
              <a:rPr lang="en-US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 (mined from blocked traffic), and </a:t>
            </a:r>
            <a:r>
              <a:rPr lang="en-US" dirty="0" err="1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TrainingSample</a:t>
            </a:r>
            <a:r>
              <a:rPr lang="en-US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 (benign traffic for autoencoder training). A Request has one Decision. </a:t>
            </a:r>
            <a:r>
              <a:rPr lang="en-US" dirty="0" err="1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AttackPatterns</a:t>
            </a:r>
            <a:r>
              <a:rPr lang="en-US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 generate Rules through the LLM pipeline. </a:t>
            </a:r>
            <a:r>
              <a:rPr lang="en-US" dirty="0" err="1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TrainingSamples</a:t>
            </a:r>
            <a:r>
              <a:rPr lang="en-US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 feed the Autoencoder model for retraining. All data is stored in MongoDB collections. as a pipeline. A </a:t>
            </a:r>
            <a:endParaRPr lang="en-PK" dirty="0">
              <a:solidFill>
                <a:srgbClr val="746558"/>
              </a:solidFill>
              <a:latin typeface="Gelasio" pitchFamily="34" charset="0"/>
              <a:cs typeface="Gelasio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434195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3041B3-C4FF-E360-8AC2-CE395DFF7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512" y="0"/>
            <a:ext cx="709297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7985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26A0EF-B73B-5A30-EF92-AFC6A3AEA59D}"/>
              </a:ext>
            </a:extLst>
          </p:cNvPr>
          <p:cNvSpPr txBox="1"/>
          <p:nvPr/>
        </p:nvSpPr>
        <p:spPr>
          <a:xfrm>
            <a:off x="845820" y="495572"/>
            <a:ext cx="4572000" cy="403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Implementation Slides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5F50238-1AA7-0665-E96E-13156E78D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3856989"/>
              </p:ext>
            </p:extLst>
          </p:nvPr>
        </p:nvGraphicFramePr>
        <p:xfrm>
          <a:off x="845820" y="1615599"/>
          <a:ext cx="7406640" cy="16637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1333436189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770139959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7878212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Phase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Completion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Modules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4957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FYP-I (Current)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PK" b="0">
                          <a:effectLst/>
                          <a:latin typeface="quote-cjk-patch"/>
                        </a:rPr>
                        <a:t>✅ 30-35%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M1, M2, M3 ,M7, M10 (dashboard)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4037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FYP-II (Planned)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⏳ 70%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M4, M5, M6, M8, M9, M11, full ML pipeline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6809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52943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3F2CA-1AC9-F800-A8A5-155D5CFA7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9E699D-23E0-4D1F-A57E-211FAAF8AA7F}"/>
              </a:ext>
            </a:extLst>
          </p:cNvPr>
          <p:cNvSpPr txBox="1"/>
          <p:nvPr/>
        </p:nvSpPr>
        <p:spPr>
          <a:xfrm>
            <a:off x="258553" y="435127"/>
            <a:ext cx="61926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cs typeface="Gelasio Semi Bold" pitchFamily="34" charset="-120"/>
              </a:rPr>
              <a:t>Modules We are Covering in FYP 1</a:t>
            </a:r>
            <a:endParaRPr lang="en-PK" sz="2200" dirty="0">
              <a:solidFill>
                <a:srgbClr val="484237"/>
              </a:solidFill>
              <a:latin typeface="Gelasio Semi Bold" pitchFamily="34" charset="0"/>
              <a:cs typeface="Gelasio Semi Bold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9A0FFB-9AFC-4AD9-2DC8-0D15A80E9B6B}"/>
              </a:ext>
            </a:extLst>
          </p:cNvPr>
          <p:cNvSpPr txBox="1"/>
          <p:nvPr/>
        </p:nvSpPr>
        <p:spPr>
          <a:xfrm>
            <a:off x="1379220" y="1798320"/>
            <a:ext cx="5882640" cy="2049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0C89EE-7C12-F0A7-3C56-02B475BF8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832" y="998220"/>
            <a:ext cx="5688147" cy="384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6851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F8C4133-78CE-65FE-5BDA-7943ED4FCA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15763"/>
              </p:ext>
            </p:extLst>
          </p:nvPr>
        </p:nvGraphicFramePr>
        <p:xfrm>
          <a:off x="394160" y="1031518"/>
          <a:ext cx="6029500" cy="3300079"/>
        </p:xfrm>
        <a:graphic>
          <a:graphicData uri="http://schemas.openxmlformats.org/drawingml/2006/table">
            <a:tbl>
              <a:tblPr/>
              <a:tblGrid>
                <a:gridCol w="3014750">
                  <a:extLst>
                    <a:ext uri="{9D8B030D-6E8A-4147-A177-3AD203B41FA5}">
                      <a16:colId xmlns:a16="http://schemas.microsoft.com/office/drawing/2014/main" val="2975148220"/>
                    </a:ext>
                  </a:extLst>
                </a:gridCol>
                <a:gridCol w="3014750">
                  <a:extLst>
                    <a:ext uri="{9D8B030D-6E8A-4147-A177-3AD203B41FA5}">
                      <a16:colId xmlns:a16="http://schemas.microsoft.com/office/drawing/2014/main" val="131808370"/>
                    </a:ext>
                  </a:extLst>
                </a:gridCol>
              </a:tblGrid>
              <a:tr h="31022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quote-cjk-patch"/>
                        </a:rPr>
                        <a:t>Team Member</a:t>
                      </a:r>
                    </a:p>
                  </a:txBody>
                  <a:tcPr marL="72051" marR="96068" marT="60043" marB="60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quote-cjk-patch"/>
                        </a:rPr>
                        <a:t>Contribution</a:t>
                      </a:r>
                    </a:p>
                  </a:txBody>
                  <a:tcPr marL="96068" marR="96068" marT="60043" marB="60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9672436"/>
                  </a:ext>
                </a:extLst>
              </a:tr>
              <a:tr h="88062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1" dirty="0">
                          <a:effectLst/>
                          <a:latin typeface="quote-cjk-patch"/>
                        </a:rPr>
                        <a:t>Member 1(Shaheer)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72051" marR="96068" marT="60043" marB="60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quote-cjk-patch"/>
                        </a:rPr>
                        <a:t>Go reverse proxy (M1), normalization &amp; feature extraction (M2), MongoDB logging (M7)</a:t>
                      </a:r>
                    </a:p>
                  </a:txBody>
                  <a:tcPr marL="96068" marR="72051" marT="60043" marB="60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3828717"/>
                  </a:ext>
                </a:extLst>
              </a:tr>
              <a:tr h="69048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1" dirty="0">
                          <a:effectLst/>
                          <a:latin typeface="quote-cjk-patch"/>
                        </a:rPr>
                        <a:t>Member 1(Shaheer)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72051" marR="96068" marT="60043" marB="60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0" dirty="0" err="1">
                          <a:effectLst/>
                          <a:latin typeface="quote-cjk-patch"/>
                        </a:rPr>
                        <a:t>ModSecurity</a:t>
                      </a:r>
                      <a:r>
                        <a:rPr lang="en-US" sz="1400" b="0" dirty="0">
                          <a:effectLst/>
                          <a:latin typeface="quote-cjk-patch"/>
                        </a:rPr>
                        <a:t>/Coraza integration (M3), OWASP CRS setup</a:t>
                      </a:r>
                    </a:p>
                  </a:txBody>
                  <a:tcPr marL="96068" marR="72051" marT="60043" marB="60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6525112"/>
                  </a:ext>
                </a:extLst>
              </a:tr>
              <a:tr h="69048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1" dirty="0">
                          <a:effectLst/>
                          <a:latin typeface="quote-cjk-patch"/>
                        </a:rPr>
                        <a:t>Member 2(Javaria)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72051" marR="96068" marT="60043" marB="60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quote-cjk-patch"/>
                        </a:rPr>
                        <a:t>React dashboard (M10), Chart.js graphs, API integration for metrics</a:t>
                      </a:r>
                    </a:p>
                  </a:txBody>
                  <a:tcPr marL="96068" marR="72051" marT="60043" marB="60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199693"/>
                  </a:ext>
                </a:extLst>
              </a:tr>
              <a:tr h="69048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1" dirty="0">
                          <a:effectLst/>
                          <a:latin typeface="quote-cjk-patch"/>
                        </a:rPr>
                        <a:t>Member 2(Javaria)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72051" marR="96068" marT="60043" marB="60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0" dirty="0">
                          <a:effectLst/>
                          <a:latin typeface="quote-cjk-patch"/>
                        </a:rPr>
                        <a:t>Docker orchestration, deployment, integration testing, documentation</a:t>
                      </a:r>
                    </a:p>
                  </a:txBody>
                  <a:tcPr marL="96068" marR="72051" marT="60043" marB="60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03075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159594B-8CD6-2F30-5D26-24B7B55233D8}"/>
              </a:ext>
            </a:extLst>
          </p:cNvPr>
          <p:cNvSpPr txBox="1"/>
          <p:nvPr/>
        </p:nvSpPr>
        <p:spPr>
          <a:xfrm>
            <a:off x="746760" y="44257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Team Member Contributions</a:t>
            </a:r>
          </a:p>
        </p:txBody>
      </p:sp>
    </p:spTree>
    <p:extLst>
      <p:ext uri="{BB962C8B-B14F-4D97-AF65-F5344CB8AC3E}">
        <p14:creationId xmlns:p14="http://schemas.microsoft.com/office/powerpoint/2010/main" val="20082278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A6461E4-2624-3F56-B7C5-52EB79AC6F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027013"/>
              </p:ext>
            </p:extLst>
          </p:nvPr>
        </p:nvGraphicFramePr>
        <p:xfrm>
          <a:off x="557980" y="1054244"/>
          <a:ext cx="6681021" cy="3295906"/>
        </p:xfrm>
        <a:graphic>
          <a:graphicData uri="http://schemas.openxmlformats.org/drawingml/2006/table">
            <a:tbl>
              <a:tblPr/>
              <a:tblGrid>
                <a:gridCol w="2227007">
                  <a:extLst>
                    <a:ext uri="{9D8B030D-6E8A-4147-A177-3AD203B41FA5}">
                      <a16:colId xmlns:a16="http://schemas.microsoft.com/office/drawing/2014/main" val="4292760855"/>
                    </a:ext>
                  </a:extLst>
                </a:gridCol>
                <a:gridCol w="2227007">
                  <a:extLst>
                    <a:ext uri="{9D8B030D-6E8A-4147-A177-3AD203B41FA5}">
                      <a16:colId xmlns:a16="http://schemas.microsoft.com/office/drawing/2014/main" val="2648467541"/>
                    </a:ext>
                  </a:extLst>
                </a:gridCol>
                <a:gridCol w="2227007">
                  <a:extLst>
                    <a:ext uri="{9D8B030D-6E8A-4147-A177-3AD203B41FA5}">
                      <a16:colId xmlns:a16="http://schemas.microsoft.com/office/drawing/2014/main" val="3484347382"/>
                    </a:ext>
                  </a:extLst>
                </a:gridCol>
              </a:tblGrid>
              <a:tr h="317027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quote-cjk-patch"/>
                        </a:rPr>
                        <a:t>Module</a:t>
                      </a:r>
                    </a:p>
                  </a:txBody>
                  <a:tcPr marL="73632" marR="98176" marT="61360" marB="61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quote-cjk-patch"/>
                        </a:rPr>
                        <a:t>Name</a:t>
                      </a:r>
                    </a:p>
                  </a:txBody>
                  <a:tcPr marL="98176" marR="98176" marT="61360" marB="61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quote-cjk-patch"/>
                        </a:rPr>
                        <a:t>Status</a:t>
                      </a:r>
                    </a:p>
                  </a:txBody>
                  <a:tcPr marL="98176" marR="98176" marT="61360" marB="61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3515881"/>
                  </a:ext>
                </a:extLst>
              </a:tr>
              <a:tr h="51133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quote-cjk-patch"/>
                        </a:rPr>
                        <a:t>M1</a:t>
                      </a:r>
                    </a:p>
                  </a:txBody>
                  <a:tcPr marL="73632" marR="98176" marT="61360" marB="61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quote-cjk-patch"/>
                        </a:rPr>
                        <a:t>Reverse Proxy (Nginx/Go)</a:t>
                      </a:r>
                    </a:p>
                  </a:txBody>
                  <a:tcPr marL="98176" marR="98176" marT="61360" marB="61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PK" sz="1400" b="0">
                          <a:effectLst/>
                          <a:latin typeface="quote-cjk-patch"/>
                        </a:rPr>
                        <a:t>✅ </a:t>
                      </a:r>
                      <a:r>
                        <a:rPr lang="en-US" sz="1400" b="0">
                          <a:effectLst/>
                          <a:latin typeface="quote-cjk-patch"/>
                        </a:rPr>
                        <a:t>Fully implemented</a:t>
                      </a:r>
                    </a:p>
                  </a:txBody>
                  <a:tcPr marL="98176" marR="73632" marT="61360" marB="61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6827674"/>
                  </a:ext>
                </a:extLst>
              </a:tr>
              <a:tr h="70564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quote-cjk-patch"/>
                        </a:rPr>
                        <a:t>M2</a:t>
                      </a:r>
                    </a:p>
                  </a:txBody>
                  <a:tcPr marL="73632" marR="98176" marT="61360" marB="61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quote-cjk-patch"/>
                        </a:rPr>
                        <a:t>Normalization &amp; Feature Extraction</a:t>
                      </a:r>
                    </a:p>
                  </a:txBody>
                  <a:tcPr marL="98176" marR="98176" marT="61360" marB="61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PK" sz="1400" b="0" dirty="0">
                          <a:effectLst/>
                          <a:latin typeface="quote-cjk-patch"/>
                        </a:rPr>
                        <a:t>✅ </a:t>
                      </a:r>
                      <a:r>
                        <a:rPr lang="en-US" sz="1400" b="0" dirty="0">
                          <a:effectLst/>
                          <a:latin typeface="quote-cjk-patch"/>
                        </a:rPr>
                        <a:t>Fully implemented</a:t>
                      </a:r>
                    </a:p>
                  </a:txBody>
                  <a:tcPr marL="98176" marR="73632" marT="61360" marB="61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2399284"/>
                  </a:ext>
                </a:extLst>
              </a:tr>
              <a:tr h="70564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quote-cjk-patch"/>
                        </a:rPr>
                        <a:t>M3</a:t>
                      </a:r>
                    </a:p>
                  </a:txBody>
                  <a:tcPr marL="73632" marR="98176" marT="61360" marB="61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quote-cjk-patch"/>
                        </a:rPr>
                        <a:t>Rule Engine (ModSecurity + OWASP CRS)</a:t>
                      </a:r>
                    </a:p>
                  </a:txBody>
                  <a:tcPr marL="98176" marR="98176" marT="61360" marB="61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quote-cjk-patch"/>
                        </a:rPr>
                        <a:t>✅ Partial (core rules, no threat intel)</a:t>
                      </a:r>
                    </a:p>
                  </a:txBody>
                  <a:tcPr marL="98176" marR="73632" marT="61360" marB="61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610882"/>
                  </a:ext>
                </a:extLst>
              </a:tr>
              <a:tr h="51133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quote-cjk-patch"/>
                        </a:rPr>
                        <a:t>M7</a:t>
                      </a:r>
                    </a:p>
                  </a:txBody>
                  <a:tcPr marL="73632" marR="98176" marT="61360" marB="61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quote-cjk-patch"/>
                        </a:rPr>
                        <a:t>MongoDB Logger</a:t>
                      </a:r>
                    </a:p>
                  </a:txBody>
                  <a:tcPr marL="98176" marR="98176" marT="61360" marB="61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PK" sz="1400" b="0">
                          <a:effectLst/>
                          <a:latin typeface="quote-cjk-patch"/>
                        </a:rPr>
                        <a:t>✅ </a:t>
                      </a:r>
                      <a:r>
                        <a:rPr lang="en-US" sz="1400" b="0">
                          <a:effectLst/>
                          <a:latin typeface="quote-cjk-patch"/>
                        </a:rPr>
                        <a:t>Fully implemented</a:t>
                      </a:r>
                    </a:p>
                  </a:txBody>
                  <a:tcPr marL="98176" marR="73632" marT="61360" marB="61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100211"/>
                  </a:ext>
                </a:extLst>
              </a:tr>
              <a:tr h="51133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quote-cjk-patch"/>
                        </a:rPr>
                        <a:t>M10</a:t>
                      </a:r>
                    </a:p>
                  </a:txBody>
                  <a:tcPr marL="73632" marR="98176" marT="61360" marB="61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quote-cjk-patch"/>
                        </a:rPr>
                        <a:t>Admin Dashboard</a:t>
                      </a:r>
                    </a:p>
                  </a:txBody>
                  <a:tcPr marL="98176" marR="98176" marT="61360" marB="61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PK" sz="1400" b="0" dirty="0">
                          <a:effectLst/>
                          <a:latin typeface="quote-cjk-patch"/>
                        </a:rPr>
                        <a:t>✅ </a:t>
                      </a:r>
                      <a:r>
                        <a:rPr lang="en-US" sz="1400" b="0" dirty="0">
                          <a:effectLst/>
                          <a:latin typeface="quote-cjk-patch"/>
                        </a:rPr>
                        <a:t>Fully implemented</a:t>
                      </a:r>
                    </a:p>
                  </a:txBody>
                  <a:tcPr marL="98176" marR="73632" marT="61360" marB="613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1415673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A2646013-DEE4-C3CF-A71D-C6C2E0BFDA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43" y="307980"/>
            <a:ext cx="7252017" cy="760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36482" rIns="0" bIns="68241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PK" altLang="en-PK" b="1" dirty="0">
                <a:solidFill>
                  <a:srgbClr val="0F1115"/>
                </a:solidFill>
                <a:latin typeface="quote-cjk-patch"/>
              </a:rPr>
              <a:t>Developed Modules &amp; Key Algorithms</a:t>
            </a:r>
            <a:r>
              <a:rPr lang="en-US" altLang="en-PK" b="1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n-PK" altLang="en-PK" b="1" dirty="0">
                <a:solidFill>
                  <a:srgbClr val="0F1115"/>
                </a:solidFill>
                <a:latin typeface="quote-cjk-patch"/>
              </a:rPr>
              <a:t>Implemented Modules (FYP-I)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1983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94162" y="484659"/>
            <a:ext cx="2658070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Data Design</a:t>
            </a:r>
            <a:endParaRPr lang="en-US" sz="2050" dirty="0"/>
          </a:p>
        </p:txBody>
      </p:sp>
      <p:sp>
        <p:nvSpPr>
          <p:cNvPr id="4" name="Text 1"/>
          <p:cNvSpPr/>
          <p:nvPr/>
        </p:nvSpPr>
        <p:spPr>
          <a:xfrm>
            <a:off x="3894162" y="1003771"/>
            <a:ext cx="478467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    MongoDB selected for schema flexibility. Collections designed to support auditing, model training datasets, and rule lifecycle management.   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3894162" y="1680418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Major Collections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894162" y="2012677"/>
            <a:ext cx="2230264" cy="2602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request_logs</a:t>
            </a: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: request_id, timestamp, source_ip, method, uri, headers, payload</a:t>
            </a:r>
            <a:endParaRPr lang="en-US" sz="10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decisions</a:t>
            </a: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: request_id, m4_score, m5_score, m3_score, consensus_score, decision, reason</a:t>
            </a:r>
            <a:endParaRPr lang="en-US" sz="10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rules</a:t>
            </a: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: rule_id, rule_syntax, confidence, severity, status, reviewed_by, created_at</a:t>
            </a:r>
            <a:endParaRPr lang="en-US" sz="10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training_dataset</a:t>
            </a: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: sample_id, feature_vector (7 floats), source, is_benign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53336" y="1680418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Retention Policy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53336" y="2012677"/>
            <a:ext cx="2230264" cy="1029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        Detailed request logs: 90 days • Aggregated metrics: 365 days • Decisions: 365 days • Approved rules: Indefinite • False positive reports: 365 days       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53336" y="3167137"/>
            <a:ext cx="1927622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Schema Considerations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53336" y="3499396"/>
            <a:ext cx="2230264" cy="1029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Document versioning for evolving features, anonymization for privacy, and indexes on request_id, source_ip, and timestamps for fast queries.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8437"/>
            <a:ext cx="5349180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Implementation Status &amp; Components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106314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    Completion: ~30–40% (FYP‑I). Implemented modules: M1 (Nginx proxy), M2 (Normalizer), M3 (ModSecurity integration — partial), M7 (MongoDB logging), M10 (React dashboard). Remaining modules deferred to FYP‑II.   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19411"/>
            <a:ext cx="571798" cy="7147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45096" y="1719411"/>
            <a:ext cx="185015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Implemented — M1 / M2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245096" y="2247379"/>
            <a:ext cx="185015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Go-based reverse proxy with TLS termination; normalization extracts 7 numeric features (length, entropy, token_count, special_char_ratio, digit_ratio, uppercase_ratio, is_post).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2433" y="1719411"/>
            <a:ext cx="571798" cy="7147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21410" y="1719411"/>
            <a:ext cx="185015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Implemented — M7 / M10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021410" y="2247379"/>
            <a:ext cx="1850157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Atomic MongoDB logging and React dashboard for filtering, rule review, and basic metrics (requests, blocked rate).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747" y="1719411"/>
            <a:ext cx="571798" cy="7147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797725" y="1719411"/>
            <a:ext cx="185015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Implemented — M3 (partial)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797725" y="2247379"/>
            <a:ext cx="185015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OWASP CRS v4.7.0 integrated; HIGH/CRITICAL matches generate immediate BLOCK + reason.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96119" y="422136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Planned integrations for FYP‑II: TensorFlow autoencoder training, HDBSCAN clustering, consensus engine, FP‑Growth miner, LLM rule generation (OpenAI / Llama 2), and continuous learning pipeline.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CCC7BCE-1B87-ADE3-0E84-24F83322071C}"/>
              </a:ext>
            </a:extLst>
          </p:cNvPr>
          <p:cNvSpPr txBox="1"/>
          <p:nvPr/>
        </p:nvSpPr>
        <p:spPr>
          <a:xfrm>
            <a:off x="457200" y="342900"/>
            <a:ext cx="8100060" cy="4817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Key Algorithm: Feature Extraction (M2)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Input: Raw HTTP Request (method, URI, headers, body)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Process: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1. URL-decode URI and body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2. Calculate 7 numeric features: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- Length 				- Shannon Entropy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- Token count				- Special character ratio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- Digit ratio				- Uppercase ratio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-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is_post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(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boolean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)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Output: Structured request + 7-float feature vector</a:t>
            </a:r>
          </a:p>
        </p:txBody>
      </p:sp>
    </p:spTree>
    <p:extLst>
      <p:ext uri="{BB962C8B-B14F-4D97-AF65-F5344CB8AC3E}">
        <p14:creationId xmlns:p14="http://schemas.microsoft.com/office/powerpoint/2010/main" val="42927836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F1560E-2D63-E1A6-7B84-538C9AB7F676}"/>
              </a:ext>
            </a:extLst>
          </p:cNvPr>
          <p:cNvSpPr txBox="1"/>
          <p:nvPr/>
        </p:nvSpPr>
        <p:spPr>
          <a:xfrm>
            <a:off x="381000" y="205037"/>
            <a:ext cx="7048500" cy="4779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Key Algorithm: Rule Enforcement (M3)</a:t>
            </a:r>
          </a:p>
          <a:p>
            <a:pPr algn="l">
              <a:lnSpc>
                <a:spcPts val="13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text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Input: Normalized request, OWASP CRS ruleset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endParaRPr 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Process: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For each rule in ruleset: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If rule matches request: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If severity is "CRITICAL" or "HIGH":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           Return BLOCK +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Menlo"/>
              </a:rPr>
              <a:t>rule_id</a:t>
            </a: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 + reason</a:t>
            </a: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Menlo"/>
              </a:rPr>
              <a:t>Return ALLOW (no rules matched)</a:t>
            </a:r>
          </a:p>
        </p:txBody>
      </p:sp>
    </p:spTree>
    <p:extLst>
      <p:ext uri="{BB962C8B-B14F-4D97-AF65-F5344CB8AC3E}">
        <p14:creationId xmlns:p14="http://schemas.microsoft.com/office/powerpoint/2010/main" val="11865250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1564BD0-C2C9-9808-46D4-FC1F308176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0297509"/>
              </p:ext>
            </p:extLst>
          </p:nvPr>
        </p:nvGraphicFramePr>
        <p:xfrm>
          <a:off x="922020" y="1533049"/>
          <a:ext cx="5730240" cy="2692400"/>
        </p:xfrm>
        <a:graphic>
          <a:graphicData uri="http://schemas.openxmlformats.org/drawingml/2006/table">
            <a:tbl>
              <a:tblPr/>
              <a:tblGrid>
                <a:gridCol w="2865120">
                  <a:extLst>
                    <a:ext uri="{9D8B030D-6E8A-4147-A177-3AD203B41FA5}">
                      <a16:colId xmlns:a16="http://schemas.microsoft.com/office/drawing/2014/main" val="592025689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30750558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API / Library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Purpose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1345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TensorFlow / </a:t>
                      </a:r>
                      <a:r>
                        <a:rPr lang="en-US" b="0" dirty="0" err="1">
                          <a:effectLst/>
                          <a:latin typeface="quote-cjk-patch"/>
                        </a:rPr>
                        <a:t>Keras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Autoencoder training and inference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4405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HDBSCAN (Python)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Clustering for outlier detection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9467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OpenAI API / Llama 2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LLM-assisted rule generation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672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FastAPI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ML service endpoints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998527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374E568E-B6FB-3D01-93B4-C9FC464C6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7980"/>
            <a:ext cx="9144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36482" rIns="0" bIns="68241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5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Planned for FYP-II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1237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E08157-D3B4-F3E0-1E28-25689941D47E}"/>
              </a:ext>
            </a:extLst>
          </p:cNvPr>
          <p:cNvSpPr txBox="1"/>
          <p:nvPr/>
        </p:nvSpPr>
        <p:spPr>
          <a:xfrm>
            <a:off x="1524000" y="1341120"/>
            <a:ext cx="59664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/>
              <a:t>DEMO………</a:t>
            </a:r>
            <a:endParaRPr lang="en-PK" sz="6600" dirty="0"/>
          </a:p>
        </p:txBody>
      </p:sp>
    </p:spTree>
    <p:extLst>
      <p:ext uri="{BB962C8B-B14F-4D97-AF65-F5344CB8AC3E}">
        <p14:creationId xmlns:p14="http://schemas.microsoft.com/office/powerpoint/2010/main" val="38385294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78610" y="410468"/>
            <a:ext cx="3307556" cy="321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Testing Strategy &amp; Results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3878610" y="906214"/>
            <a:ext cx="4815780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    Multi‑layered testing approach: unit, functional, business‑rules, and integration testing. Emphasis on black‑box for functional and white‑box for unit tests.   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3878610" y="1429048"/>
            <a:ext cx="289024" cy="289024"/>
          </a:xfrm>
          <a:prstGeom prst="roundRect">
            <a:avLst>
              <a:gd name="adj" fmla="val 6668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284018" y="1473175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Unit Tests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284018" y="1743670"/>
            <a:ext cx="4410373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M1, M2, M3, M7 — verify logic in isolation (e.g., SQLi input → M3 BLOCK + rule ID).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878610" y="2368376"/>
            <a:ext cx="289024" cy="289024"/>
          </a:xfrm>
          <a:prstGeom prst="roundRect">
            <a:avLst>
              <a:gd name="adj" fmla="val 6668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284018" y="2412504"/>
            <a:ext cx="196237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Functional &amp; Integration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284018" y="2682999"/>
            <a:ext cx="4410373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End‑to‑end pipeline tests and dashboard performance (dashboard load &lt;2s). 100 mixed requests maintained 100% consistency between logs and dashboard metrics.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878610" y="3503637"/>
            <a:ext cx="289024" cy="289024"/>
          </a:xfrm>
          <a:prstGeom prst="roundRect">
            <a:avLst>
              <a:gd name="adj" fmla="val 6668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284018" y="3547765"/>
            <a:ext cx="181131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Business Rules Testing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284018" y="3818260"/>
            <a:ext cx="4410373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Decision tables ensure severity mapping to BLOCK/ALLOW logic; fallback behavior tested when MongoDB is unavailable (in‑memory buffer validated).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878610" y="4341093"/>
            <a:ext cx="4815780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Summary: 40 test cases executed — 40 passed (100% pass rate) across unit, functional, business‑rules, and integration categories for implemented modules.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A5D184-8116-108E-977A-7594FD6B407C}"/>
              </a:ext>
            </a:extLst>
          </p:cNvPr>
          <p:cNvSpPr txBox="1"/>
          <p:nvPr/>
        </p:nvSpPr>
        <p:spPr>
          <a:xfrm>
            <a:off x="670560" y="487952"/>
            <a:ext cx="4572000" cy="403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Slide 9: Testing Slides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7D0DFD1-909C-46B3-236B-809481B1DD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3432342"/>
              </p:ext>
            </p:extLst>
          </p:nvPr>
        </p:nvGraphicFramePr>
        <p:xfrm>
          <a:off x="801672" y="1070769"/>
          <a:ext cx="7206948" cy="3416169"/>
        </p:xfrm>
        <a:graphic>
          <a:graphicData uri="http://schemas.openxmlformats.org/drawingml/2006/table">
            <a:tbl>
              <a:tblPr/>
              <a:tblGrid>
                <a:gridCol w="2402316">
                  <a:extLst>
                    <a:ext uri="{9D8B030D-6E8A-4147-A177-3AD203B41FA5}">
                      <a16:colId xmlns:a16="http://schemas.microsoft.com/office/drawing/2014/main" val="3291487573"/>
                    </a:ext>
                  </a:extLst>
                </a:gridCol>
                <a:gridCol w="2402316">
                  <a:extLst>
                    <a:ext uri="{9D8B030D-6E8A-4147-A177-3AD203B41FA5}">
                      <a16:colId xmlns:a16="http://schemas.microsoft.com/office/drawing/2014/main" val="895989291"/>
                    </a:ext>
                  </a:extLst>
                </a:gridCol>
                <a:gridCol w="2402316">
                  <a:extLst>
                    <a:ext uri="{9D8B030D-6E8A-4147-A177-3AD203B41FA5}">
                      <a16:colId xmlns:a16="http://schemas.microsoft.com/office/drawing/2014/main" val="1569921262"/>
                    </a:ext>
                  </a:extLst>
                </a:gridCol>
              </a:tblGrid>
              <a:tr h="164175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Test Type</a:t>
                      </a:r>
                    </a:p>
                  </a:txBody>
                  <a:tcPr marL="38131" marR="50841" marT="31776" marB="31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Used?</a:t>
                      </a:r>
                    </a:p>
                  </a:txBody>
                  <a:tcPr marL="50841" marR="50841" marT="31776" marB="31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Justification</a:t>
                      </a:r>
                    </a:p>
                  </a:txBody>
                  <a:tcPr marL="50841" marR="50841" marT="31776" marB="31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363987"/>
                  </a:ext>
                </a:extLst>
              </a:tr>
              <a:tr h="66729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1" dirty="0">
                          <a:effectLst/>
                          <a:latin typeface="quote-cjk-patch"/>
                        </a:rPr>
                        <a:t>Unit Testing</a:t>
                      </a:r>
                      <a:endParaRPr lang="en-US" sz="800" b="0" dirty="0">
                        <a:effectLst/>
                        <a:latin typeface="quote-cjk-patch"/>
                      </a:endParaRPr>
                    </a:p>
                  </a:txBody>
                  <a:tcPr marL="38131" marR="50841" marT="31776" marB="31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PK" sz="800" b="0">
                          <a:effectLst/>
                          <a:latin typeface="quote-cjk-patch"/>
                        </a:rPr>
                        <a:t>✅ </a:t>
                      </a:r>
                      <a:r>
                        <a:rPr lang="en-US" sz="800" b="0">
                          <a:effectLst/>
                          <a:latin typeface="quote-cjk-patch"/>
                        </a:rPr>
                        <a:t>Yes</a:t>
                      </a:r>
                    </a:p>
                  </a:txBody>
                  <a:tcPr marL="50841" marR="50841" marT="31776" marB="31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Test individual functions (feature extraction, rule matching, logging) in isolation</a:t>
                      </a:r>
                    </a:p>
                  </a:txBody>
                  <a:tcPr marL="50841" marR="38131" marT="31776" marB="31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9073221"/>
                  </a:ext>
                </a:extLst>
              </a:tr>
              <a:tr h="46604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1">
                          <a:effectLst/>
                          <a:latin typeface="quote-cjk-patch"/>
                        </a:rPr>
                        <a:t>Integration Testing</a:t>
                      </a:r>
                      <a:endParaRPr lang="en-US" sz="800" b="0">
                        <a:effectLst/>
                        <a:latin typeface="quote-cjk-patch"/>
                      </a:endParaRPr>
                    </a:p>
                  </a:txBody>
                  <a:tcPr marL="38131" marR="50841" marT="31776" marB="31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PK" sz="800" b="0">
                          <a:effectLst/>
                          <a:latin typeface="quote-cjk-patch"/>
                        </a:rPr>
                        <a:t>✅ </a:t>
                      </a:r>
                      <a:r>
                        <a:rPr lang="en-US" sz="800" b="0">
                          <a:effectLst/>
                          <a:latin typeface="quote-cjk-patch"/>
                        </a:rPr>
                        <a:t>Yes</a:t>
                      </a:r>
                    </a:p>
                  </a:txBody>
                  <a:tcPr marL="50841" marR="50841" marT="31776" marB="31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Verify M1+M2+M3+M7 work together end-to-end</a:t>
                      </a:r>
                    </a:p>
                  </a:txBody>
                  <a:tcPr marL="50841" marR="38131" marT="31776" marB="31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4997839"/>
                  </a:ext>
                </a:extLst>
              </a:tr>
              <a:tr h="46604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1">
                          <a:effectLst/>
                          <a:latin typeface="quote-cjk-patch"/>
                        </a:rPr>
                        <a:t>Functional Testing</a:t>
                      </a:r>
                      <a:endParaRPr lang="en-US" sz="800" b="0">
                        <a:effectLst/>
                        <a:latin typeface="quote-cjk-patch"/>
                      </a:endParaRPr>
                    </a:p>
                  </a:txBody>
                  <a:tcPr marL="38131" marR="50841" marT="31776" marB="31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PK" sz="800" b="0">
                          <a:effectLst/>
                          <a:latin typeface="quote-cjk-patch"/>
                        </a:rPr>
                        <a:t>✅ </a:t>
                      </a:r>
                      <a:r>
                        <a:rPr lang="en-US" sz="800" b="0">
                          <a:effectLst/>
                          <a:latin typeface="quote-cjk-patch"/>
                        </a:rPr>
                        <a:t>Yes</a:t>
                      </a:r>
                    </a:p>
                  </a:txBody>
                  <a:tcPr marL="50841" marR="50841" marT="31776" marB="31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Test user-facing features (dashboard, API responses)</a:t>
                      </a:r>
                    </a:p>
                  </a:txBody>
                  <a:tcPr marL="50841" marR="38131" marT="31776" marB="31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1664988"/>
                  </a:ext>
                </a:extLst>
              </a:tr>
              <a:tr h="66729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1">
                          <a:effectLst/>
                          <a:latin typeface="quote-cjk-patch"/>
                        </a:rPr>
                        <a:t>Black Box Testing</a:t>
                      </a:r>
                      <a:endParaRPr lang="en-US" sz="800" b="0">
                        <a:effectLst/>
                        <a:latin typeface="quote-cjk-patch"/>
                      </a:endParaRPr>
                    </a:p>
                  </a:txBody>
                  <a:tcPr marL="38131" marR="50841" marT="31776" marB="31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PK" sz="800" b="0">
                          <a:effectLst/>
                          <a:latin typeface="quote-cjk-patch"/>
                        </a:rPr>
                        <a:t>✅ </a:t>
                      </a:r>
                      <a:r>
                        <a:rPr lang="en-US" sz="800" b="0">
                          <a:effectLst/>
                          <a:latin typeface="quote-cjk-patch"/>
                        </a:rPr>
                        <a:t>Yes</a:t>
                      </a:r>
                    </a:p>
                  </a:txBody>
                  <a:tcPr marL="50841" marR="50841" marT="31776" marB="31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Test WAF behavior without knowing internal implementation (send attacks, check responses)</a:t>
                      </a:r>
                    </a:p>
                  </a:txBody>
                  <a:tcPr marL="50841" marR="38131" marT="31776" marB="31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3677844"/>
                  </a:ext>
                </a:extLst>
              </a:tr>
              <a:tr h="46604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1">
                          <a:effectLst/>
                          <a:latin typeface="quote-cjk-patch"/>
                        </a:rPr>
                        <a:t>White Box Testing</a:t>
                      </a:r>
                      <a:endParaRPr lang="en-US" sz="800" b="0">
                        <a:effectLst/>
                        <a:latin typeface="quote-cjk-patch"/>
                      </a:endParaRPr>
                    </a:p>
                  </a:txBody>
                  <a:tcPr marL="38131" marR="50841" marT="31776" marB="31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PK" sz="800" b="0">
                          <a:effectLst/>
                          <a:latin typeface="quote-cjk-patch"/>
                        </a:rPr>
                        <a:t>✅ </a:t>
                      </a:r>
                      <a:r>
                        <a:rPr lang="en-US" sz="800" b="0">
                          <a:effectLst/>
                          <a:latin typeface="quote-cjk-patch"/>
                        </a:rPr>
                        <a:t>Yes</a:t>
                      </a:r>
                    </a:p>
                  </a:txBody>
                  <a:tcPr marL="50841" marR="50841" marT="31776" marB="31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Unit tests examine internal functions (feature extraction logic)</a:t>
                      </a:r>
                    </a:p>
                  </a:txBody>
                  <a:tcPr marL="50841" marR="38131" marT="31776" marB="31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001829"/>
                  </a:ext>
                </a:extLst>
              </a:tr>
              <a:tr h="36542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1">
                          <a:effectLst/>
                          <a:latin typeface="quote-cjk-patch"/>
                        </a:rPr>
                        <a:t>System Testing</a:t>
                      </a:r>
                      <a:endParaRPr lang="en-US" sz="800" b="0">
                        <a:effectLst/>
                        <a:latin typeface="quote-cjk-patch"/>
                      </a:endParaRPr>
                    </a:p>
                  </a:txBody>
                  <a:tcPr marL="38131" marR="50841" marT="31776" marB="31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>
                          <a:effectLst/>
                          <a:latin typeface="quote-cjk-patch"/>
                        </a:rPr>
                        <a:t>⏳ Planned</a:t>
                      </a:r>
                    </a:p>
                  </a:txBody>
                  <a:tcPr marL="50841" marR="50841" marT="31776" marB="31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0" dirty="0">
                          <a:effectLst/>
                          <a:latin typeface="quote-cjk-patch"/>
                        </a:rPr>
                        <a:t>Full system test in FYP-II after AI modules added</a:t>
                      </a:r>
                    </a:p>
                  </a:txBody>
                  <a:tcPr marL="50841" marR="38131" marT="31776" marB="31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6063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13508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8B8DD62-64E3-57EC-70D9-F009B0A36E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4093048"/>
              </p:ext>
            </p:extLst>
          </p:nvPr>
        </p:nvGraphicFramePr>
        <p:xfrm>
          <a:off x="579120" y="1514717"/>
          <a:ext cx="6484620" cy="3431812"/>
        </p:xfrm>
        <a:graphic>
          <a:graphicData uri="http://schemas.openxmlformats.org/drawingml/2006/table">
            <a:tbl>
              <a:tblPr/>
              <a:tblGrid>
                <a:gridCol w="3242310">
                  <a:extLst>
                    <a:ext uri="{9D8B030D-6E8A-4147-A177-3AD203B41FA5}">
                      <a16:colId xmlns:a16="http://schemas.microsoft.com/office/drawing/2014/main" val="2670604632"/>
                    </a:ext>
                  </a:extLst>
                </a:gridCol>
                <a:gridCol w="3242310">
                  <a:extLst>
                    <a:ext uri="{9D8B030D-6E8A-4147-A177-3AD203B41FA5}">
                      <a16:colId xmlns:a16="http://schemas.microsoft.com/office/drawing/2014/main" val="2070925818"/>
                    </a:ext>
                  </a:extLst>
                </a:gridCol>
              </a:tblGrid>
              <a:tr h="28328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300" b="0">
                          <a:effectLst/>
                          <a:latin typeface="quote-cjk-patch"/>
                        </a:rPr>
                        <a:t>Module</a:t>
                      </a:r>
                    </a:p>
                  </a:txBody>
                  <a:tcPr marL="65795" marR="87726" marT="54829" marB="548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300" b="0">
                          <a:effectLst/>
                          <a:latin typeface="quote-cjk-patch"/>
                        </a:rPr>
                        <a:t>Tests Conducted</a:t>
                      </a:r>
                    </a:p>
                  </a:txBody>
                  <a:tcPr marL="87726" marR="87726" marT="54829" marB="548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5561380"/>
                  </a:ext>
                </a:extLst>
              </a:tr>
              <a:tr h="63053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300" b="0" dirty="0">
                          <a:effectLst/>
                          <a:latin typeface="quote-cjk-patch"/>
                        </a:rPr>
                        <a:t>M2 (Normalizer)</a:t>
                      </a:r>
                    </a:p>
                  </a:txBody>
                  <a:tcPr marL="65795" marR="87726" marT="54829" marB="548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300" b="0">
                          <a:effectLst/>
                          <a:latin typeface="quote-cjk-patch"/>
                        </a:rPr>
                        <a:t>4 unit tests (normal GET, POST, URL decode, empty request)</a:t>
                      </a:r>
                    </a:p>
                  </a:txBody>
                  <a:tcPr marL="87726" marR="65795" marT="54829" marB="548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7794854"/>
                  </a:ext>
                </a:extLst>
              </a:tr>
              <a:tr h="45690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300" b="0">
                          <a:effectLst/>
                          <a:latin typeface="quote-cjk-patch"/>
                        </a:rPr>
                        <a:t>M3 (Rule Engine)</a:t>
                      </a:r>
                    </a:p>
                  </a:txBody>
                  <a:tcPr marL="65795" marR="87726" marT="54829" marB="548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300" b="0">
                          <a:effectLst/>
                          <a:latin typeface="quote-cjk-patch"/>
                        </a:rPr>
                        <a:t>4 unit tests (SQLi, XSS, path traversal, normal request)</a:t>
                      </a:r>
                    </a:p>
                  </a:txBody>
                  <a:tcPr marL="87726" marR="65795" marT="54829" marB="548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375373"/>
                  </a:ext>
                </a:extLst>
              </a:tr>
              <a:tr h="63053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300" b="0">
                          <a:effectLst/>
                          <a:latin typeface="quote-cjk-patch"/>
                        </a:rPr>
                        <a:t>M7 (Logger)</a:t>
                      </a:r>
                    </a:p>
                  </a:txBody>
                  <a:tcPr marL="65795" marR="87726" marT="54829" marB="548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300" b="0">
                          <a:effectLst/>
                          <a:latin typeface="quote-cjk-patch"/>
                        </a:rPr>
                        <a:t>4 unit tests (insert, verify reasons, duplicate, connection failure)</a:t>
                      </a:r>
                    </a:p>
                  </a:txBody>
                  <a:tcPr marL="87726" marR="65795" marT="54829" marB="548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233826"/>
                  </a:ext>
                </a:extLst>
              </a:tr>
              <a:tr h="63053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300" b="0">
                          <a:effectLst/>
                          <a:latin typeface="quote-cjk-patch"/>
                        </a:rPr>
                        <a:t>M1 (Proxy)</a:t>
                      </a:r>
                    </a:p>
                  </a:txBody>
                  <a:tcPr marL="65795" marR="87726" marT="54829" marB="548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300" b="0">
                          <a:effectLst/>
                          <a:latin typeface="quote-cjk-patch"/>
                        </a:rPr>
                        <a:t>4 unit tests (forward, block, HTTPS, backend unavailable)</a:t>
                      </a:r>
                    </a:p>
                  </a:txBody>
                  <a:tcPr marL="87726" marR="65795" marT="54829" marB="548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7518914"/>
                  </a:ext>
                </a:extLst>
              </a:tr>
              <a:tr h="63053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300" b="1">
                          <a:effectLst/>
                          <a:latin typeface="quote-cjk-patch"/>
                        </a:rPr>
                        <a:t>End-to-End Pipeline</a:t>
                      </a:r>
                      <a:endParaRPr lang="en-US" sz="1300" b="0">
                        <a:effectLst/>
                        <a:latin typeface="quote-cjk-patch"/>
                      </a:endParaRPr>
                    </a:p>
                  </a:txBody>
                  <a:tcPr marL="65795" marR="87726" marT="54829" marB="548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300" b="0" dirty="0">
                          <a:effectLst/>
                          <a:latin typeface="quote-cjk-patch"/>
                        </a:rPr>
                        <a:t>3 integration tests (normal flow, malicious flow, data consistency)</a:t>
                      </a:r>
                    </a:p>
                  </a:txBody>
                  <a:tcPr marL="87726" marR="65795" marT="54829" marB="548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936332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7183386-2668-564E-BF6B-C8783106B783}"/>
              </a:ext>
            </a:extLst>
          </p:cNvPr>
          <p:cNvSpPr txBox="1"/>
          <p:nvPr/>
        </p:nvSpPr>
        <p:spPr>
          <a:xfrm>
            <a:off x="579120" y="503605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Test Cases (FYP-I)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Modules Tested</a:t>
            </a:r>
          </a:p>
        </p:txBody>
      </p:sp>
    </p:spTree>
    <p:extLst>
      <p:ext uri="{BB962C8B-B14F-4D97-AF65-F5344CB8AC3E}">
        <p14:creationId xmlns:p14="http://schemas.microsoft.com/office/powerpoint/2010/main" val="7739224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36F74A7-467F-8EA6-837E-C9D64AA8EE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6640642"/>
              </p:ext>
            </p:extLst>
          </p:nvPr>
        </p:nvGraphicFramePr>
        <p:xfrm>
          <a:off x="452448" y="1089262"/>
          <a:ext cx="7461863" cy="3397094"/>
        </p:xfrm>
        <a:graphic>
          <a:graphicData uri="http://schemas.openxmlformats.org/drawingml/2006/table">
            <a:tbl>
              <a:tblPr/>
              <a:tblGrid>
                <a:gridCol w="1354083">
                  <a:extLst>
                    <a:ext uri="{9D8B030D-6E8A-4147-A177-3AD203B41FA5}">
                      <a16:colId xmlns:a16="http://schemas.microsoft.com/office/drawing/2014/main" val="4275385036"/>
                    </a:ext>
                  </a:extLst>
                </a:gridCol>
                <a:gridCol w="1526945">
                  <a:extLst>
                    <a:ext uri="{9D8B030D-6E8A-4147-A177-3AD203B41FA5}">
                      <a16:colId xmlns:a16="http://schemas.microsoft.com/office/drawing/2014/main" val="783621398"/>
                    </a:ext>
                  </a:extLst>
                </a:gridCol>
                <a:gridCol w="1526945">
                  <a:extLst>
                    <a:ext uri="{9D8B030D-6E8A-4147-A177-3AD203B41FA5}">
                      <a16:colId xmlns:a16="http://schemas.microsoft.com/office/drawing/2014/main" val="259704081"/>
                    </a:ext>
                  </a:extLst>
                </a:gridCol>
                <a:gridCol w="1526945">
                  <a:extLst>
                    <a:ext uri="{9D8B030D-6E8A-4147-A177-3AD203B41FA5}">
                      <a16:colId xmlns:a16="http://schemas.microsoft.com/office/drawing/2014/main" val="3431580266"/>
                    </a:ext>
                  </a:extLst>
                </a:gridCol>
                <a:gridCol w="1526945">
                  <a:extLst>
                    <a:ext uri="{9D8B030D-6E8A-4147-A177-3AD203B41FA5}">
                      <a16:colId xmlns:a16="http://schemas.microsoft.com/office/drawing/2014/main" val="894141691"/>
                    </a:ext>
                  </a:extLst>
                </a:gridCol>
              </a:tblGrid>
              <a:tr h="37249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700" b="0">
                          <a:effectLst/>
                          <a:latin typeface="quote-cjk-patch"/>
                        </a:rPr>
                        <a:t>Test Case</a:t>
                      </a:r>
                    </a:p>
                  </a:txBody>
                  <a:tcPr marL="86514" marR="115352" marT="72095" marB="72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700" b="0">
                          <a:effectLst/>
                          <a:latin typeface="quote-cjk-patch"/>
                        </a:rPr>
                        <a:t>Input</a:t>
                      </a:r>
                    </a:p>
                  </a:txBody>
                  <a:tcPr marL="115352" marR="115352" marT="72095" marB="72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700" b="0">
                          <a:effectLst/>
                          <a:latin typeface="quote-cjk-patch"/>
                        </a:rPr>
                        <a:t>Expected</a:t>
                      </a:r>
                    </a:p>
                  </a:txBody>
                  <a:tcPr marL="115352" marR="115352" marT="72095" marB="72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700" b="0">
                          <a:effectLst/>
                          <a:latin typeface="quote-cjk-patch"/>
                        </a:rPr>
                        <a:t>Actual</a:t>
                      </a:r>
                    </a:p>
                  </a:txBody>
                  <a:tcPr marL="115352" marR="115352" marT="72095" marB="72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700" b="0">
                          <a:effectLst/>
                          <a:latin typeface="quote-cjk-patch"/>
                        </a:rPr>
                        <a:t>Status</a:t>
                      </a:r>
                    </a:p>
                  </a:txBody>
                  <a:tcPr marL="115352" marR="115352" marT="72095" marB="72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67030"/>
                  </a:ext>
                </a:extLst>
              </a:tr>
              <a:tr h="76300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700" b="0">
                          <a:effectLst/>
                          <a:latin typeface="quote-cjk-patch"/>
                        </a:rPr>
                        <a:t>SQL Injection</a:t>
                      </a:r>
                    </a:p>
                  </a:txBody>
                  <a:tcPr marL="86514" marR="115352" marT="72095" marB="72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700" b="0">
                          <a:effectLst/>
                          <a:latin typeface="Menlo"/>
                        </a:rPr>
                        <a:t>GET /page?id=1' OR '1'='1</a:t>
                      </a:r>
                      <a:endParaRPr lang="en-US" sz="1700" b="0">
                        <a:effectLst/>
                        <a:latin typeface="quote-cjk-patch"/>
                      </a:endParaRPr>
                    </a:p>
                  </a:txBody>
                  <a:tcPr marL="115352" marR="115352" marT="72095" marB="72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700" b="0">
                          <a:effectLst/>
                          <a:latin typeface="quote-cjk-patch"/>
                        </a:rPr>
                        <a:t>BLOCK (403)</a:t>
                      </a:r>
                    </a:p>
                  </a:txBody>
                  <a:tcPr marL="115352" marR="115352" marT="72095" marB="72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700" b="0">
                          <a:effectLst/>
                          <a:latin typeface="quote-cjk-patch"/>
                        </a:rPr>
                        <a:t>BLOCK (403)</a:t>
                      </a:r>
                    </a:p>
                  </a:txBody>
                  <a:tcPr marL="115352" marR="115352" marT="72095" marB="72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PK" sz="1700" b="0">
                          <a:effectLst/>
                          <a:latin typeface="quote-cjk-patch"/>
                        </a:rPr>
                        <a:t>✅ </a:t>
                      </a:r>
                      <a:r>
                        <a:rPr lang="en-US" sz="1700" b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15352" marR="86514" marT="72095" marB="72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542747"/>
                  </a:ext>
                </a:extLst>
              </a:tr>
              <a:tr h="76300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700" b="0">
                          <a:effectLst/>
                          <a:latin typeface="quote-cjk-patch"/>
                        </a:rPr>
                        <a:t>XSS Attack</a:t>
                      </a:r>
                    </a:p>
                  </a:txBody>
                  <a:tcPr marL="86514" marR="115352" marT="72095" marB="72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700" b="0">
                          <a:effectLst/>
                          <a:latin typeface="Menlo"/>
                        </a:rPr>
                        <a:t>GET /search?q=&lt;script&gt;</a:t>
                      </a:r>
                      <a:endParaRPr lang="en-US" sz="1700" b="0">
                        <a:effectLst/>
                        <a:latin typeface="quote-cjk-patch"/>
                      </a:endParaRPr>
                    </a:p>
                  </a:txBody>
                  <a:tcPr marL="115352" marR="115352" marT="72095" marB="72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700" b="0">
                          <a:effectLst/>
                          <a:latin typeface="quote-cjk-patch"/>
                        </a:rPr>
                        <a:t>BLOCK (403)</a:t>
                      </a:r>
                    </a:p>
                  </a:txBody>
                  <a:tcPr marL="115352" marR="115352" marT="72095" marB="72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700" b="0">
                          <a:effectLst/>
                          <a:latin typeface="quote-cjk-patch"/>
                        </a:rPr>
                        <a:t>BLOCK (403)</a:t>
                      </a:r>
                    </a:p>
                  </a:txBody>
                  <a:tcPr marL="115352" marR="115352" marT="72095" marB="72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PK" sz="1700" b="0">
                          <a:effectLst/>
                          <a:latin typeface="quote-cjk-patch"/>
                        </a:rPr>
                        <a:t>✅ </a:t>
                      </a:r>
                      <a:r>
                        <a:rPr lang="en-US" sz="1700" b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15352" marR="86514" marT="72095" marB="72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1521816"/>
                  </a:ext>
                </a:extLst>
              </a:tr>
              <a:tr h="76300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700" b="0">
                          <a:effectLst/>
                          <a:latin typeface="quote-cjk-patch"/>
                        </a:rPr>
                        <a:t>Path Traversal</a:t>
                      </a:r>
                    </a:p>
                  </a:txBody>
                  <a:tcPr marL="86514" marR="115352" marT="72095" marB="72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700" b="0">
                          <a:effectLst/>
                          <a:latin typeface="Menlo"/>
                        </a:rPr>
                        <a:t>GET /../../etc/passwd</a:t>
                      </a:r>
                      <a:endParaRPr lang="en-US" sz="1700" b="0">
                        <a:effectLst/>
                        <a:latin typeface="quote-cjk-patch"/>
                      </a:endParaRPr>
                    </a:p>
                  </a:txBody>
                  <a:tcPr marL="115352" marR="115352" marT="72095" marB="72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700" b="0">
                          <a:effectLst/>
                          <a:latin typeface="quote-cjk-patch"/>
                        </a:rPr>
                        <a:t>BLOCK (403)</a:t>
                      </a:r>
                    </a:p>
                  </a:txBody>
                  <a:tcPr marL="115352" marR="115352" marT="72095" marB="72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700" b="0">
                          <a:effectLst/>
                          <a:latin typeface="quote-cjk-patch"/>
                        </a:rPr>
                        <a:t>BLOCK (403)</a:t>
                      </a:r>
                    </a:p>
                  </a:txBody>
                  <a:tcPr marL="115352" marR="115352" marT="72095" marB="72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PK" sz="1700" b="0">
                          <a:effectLst/>
                          <a:latin typeface="quote-cjk-patch"/>
                        </a:rPr>
                        <a:t>✅ </a:t>
                      </a:r>
                      <a:r>
                        <a:rPr lang="en-US" sz="1700" b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15352" marR="86514" marT="72095" marB="72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0379977"/>
                  </a:ext>
                </a:extLst>
              </a:tr>
              <a:tr h="60079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700" b="0">
                          <a:effectLst/>
                          <a:latin typeface="quote-cjk-patch"/>
                        </a:rPr>
                        <a:t>Normal Request</a:t>
                      </a:r>
                    </a:p>
                  </a:txBody>
                  <a:tcPr marL="86514" marR="115352" marT="72095" marB="72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700" b="0">
                          <a:effectLst/>
                          <a:latin typeface="Menlo"/>
                        </a:rPr>
                        <a:t>GET /index.html</a:t>
                      </a:r>
                      <a:endParaRPr lang="en-US" sz="1700" b="0">
                        <a:effectLst/>
                        <a:latin typeface="quote-cjk-patch"/>
                      </a:endParaRPr>
                    </a:p>
                  </a:txBody>
                  <a:tcPr marL="115352" marR="115352" marT="72095" marB="72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700" b="0">
                          <a:effectLst/>
                          <a:latin typeface="quote-cjk-patch"/>
                        </a:rPr>
                        <a:t>ALLOW (200)</a:t>
                      </a:r>
                    </a:p>
                  </a:txBody>
                  <a:tcPr marL="115352" marR="115352" marT="72095" marB="72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700" b="0">
                          <a:effectLst/>
                          <a:latin typeface="quote-cjk-patch"/>
                        </a:rPr>
                        <a:t>ALLOW (200)</a:t>
                      </a:r>
                    </a:p>
                  </a:txBody>
                  <a:tcPr marL="115352" marR="115352" marT="72095" marB="72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PK" sz="1700" b="0" dirty="0">
                          <a:effectLst/>
                          <a:latin typeface="quote-cjk-patch"/>
                        </a:rPr>
                        <a:t>✅ </a:t>
                      </a:r>
                      <a:r>
                        <a:rPr lang="en-US" sz="1700" b="0" dirty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15352" marR="86514" marT="72095" marB="72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1416396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24513EFA-35C3-B966-9360-6BE90BFFF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755" y="1089978"/>
            <a:ext cx="9144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36482" rIns="0" bIns="68241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500" b="1" i="0" u="none" strike="noStrike" cap="none" normalizeH="0" baseline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Sample Test Results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96188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477887"/>
            <a:ext cx="3302050" cy="343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Conclusion &amp; Next Steps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80640" y="1087189"/>
            <a:ext cx="8182719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    Key design choices: layered pipeline, dual AI detectors (Autoencoder + HDBSCAN) combined with ModSecurity, weighted consensus (M4 40% / M5 30% / M3 30%), and human‑in‑the‑loop LLM rule generation to prevent unsafe rules in production.   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80640" y="1669479"/>
            <a:ext cx="2638871" cy="411956"/>
          </a:xfrm>
          <a:prstGeom prst="roundRect">
            <a:avLst>
              <a:gd name="adj" fmla="val 480065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97087" y="1746721"/>
            <a:ext cx="205978" cy="2574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17934" y="2214414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FYP‑II Priorities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17934" y="2508721"/>
            <a:ext cx="2364284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Implement &amp; train M4/M5 with CSIC 2010 / CICIDS 2017 datasets; deploy consensus engine and continuous learning loop.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52490" y="1669479"/>
            <a:ext cx="2638946" cy="411956"/>
          </a:xfrm>
          <a:prstGeom prst="roundRect">
            <a:avLst>
              <a:gd name="adj" fmla="val 480065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468937" y="1746721"/>
            <a:ext cx="205978" cy="2574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89784" y="2214414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Advanced Research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389784" y="2508721"/>
            <a:ext cx="2364358" cy="108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Explore VAEs, transformer‑based HTTP analyzers, SHAP explainability, federated learning, and multi‑protocol support (WebSocket, gRPC, GraphQL).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24414" y="1669479"/>
            <a:ext cx="2638946" cy="411956"/>
          </a:xfrm>
          <a:prstGeom prst="roundRect">
            <a:avLst>
              <a:gd name="adj" fmla="val 480065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240860" y="1746721"/>
            <a:ext cx="205978" cy="2574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61708" y="2214414"/>
            <a:ext cx="231554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Operational Enhancements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161708" y="2508721"/>
            <a:ext cx="2364358" cy="108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Real‑time rule deployment without restarts, multi‑tenancy, compliance reporting (PCI‑DSS, HIPAA, GDPR), and production hardening (secrets management, network policies).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640" y="3877270"/>
            <a:ext cx="8182719" cy="788268"/>
          </a:xfrm>
          <a:prstGeom prst="roundRect">
            <a:avLst>
              <a:gd name="adj" fmla="val 2613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34" y="4076328"/>
            <a:ext cx="171599" cy="13729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26827" y="4044553"/>
            <a:ext cx="7599238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Recommended immediate actions: finalize M4/M5 prototypes offline using anonymized logs, define evaluation metrics (TPR/FPR, precision/recall), and implement CI pipelines for model retraining and safe rule rollout.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BA71A3-0CF9-CBCF-751C-840341364ECF}"/>
              </a:ext>
            </a:extLst>
          </p:cNvPr>
          <p:cNvSpPr txBox="1"/>
          <p:nvPr/>
        </p:nvSpPr>
        <p:spPr>
          <a:xfrm>
            <a:off x="2712720" y="2087880"/>
            <a:ext cx="54406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THANK YOU! </a:t>
            </a:r>
            <a:endParaRPr lang="en-PK" sz="4000" b="1" dirty="0">
              <a:solidFill>
                <a:srgbClr val="746558"/>
              </a:solidFill>
              <a:latin typeface="Gelasio" pitchFamily="34" charset="0"/>
              <a:cs typeface="Gelasio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25517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3244</TotalTime>
  <Words>2733</Words>
  <Application>Microsoft Office PowerPoint</Application>
  <PresentationFormat>On-screen Show (16:9)</PresentationFormat>
  <Paragraphs>327</Paragraphs>
  <Slides>35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Symbol</vt:lpstr>
      <vt:lpstr>Menlo</vt:lpstr>
      <vt:lpstr>Gelasio Semi Bold</vt:lpstr>
      <vt:lpstr>Gelasio</vt:lpstr>
      <vt:lpstr>Arial</vt:lpstr>
      <vt:lpstr>quote-cjk-patch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Javaria Jia</dc:creator>
  <cp:lastModifiedBy>(SP23-BCT-023) JAVARIA MAQBOOL</cp:lastModifiedBy>
  <cp:revision>32</cp:revision>
  <dcterms:created xsi:type="dcterms:W3CDTF">2026-05-11T15:36:30Z</dcterms:created>
  <dcterms:modified xsi:type="dcterms:W3CDTF">2026-05-15T17:16:58Z</dcterms:modified>
</cp:coreProperties>
</file>